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14884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600" b="1">
                <a:solidFill>
                  <a:srgbClr val="0A0A0A"/>
                </a:solidFill>
                <a:latin typeface="Helvetica Neue"/>
              </a:rPr>
              <a:t>Agentic AI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611880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0" i="0">
                <a:solidFill>
                  <a:srgbClr val="444444"/>
                </a:solidFill>
                <a:latin typeface="Helvetica Neue"/>
              </a:rPr>
              <a:t>Week 2 — From LLMs to Agents: why language models work, and the ladder that turns one into an agent.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0916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Helvetica Neue"/>
              </a:rPr>
              <a:t>Dr. Kerem Delikoyun  ·  TUMCREATE  ·  3 June 2026</a:t>
            </a:r>
          </a:p>
        </p:txBody>
      </p:sp>
      <p:pic>
        <p:nvPicPr>
          <p:cNvPr id="6" name="Picture 5" descr="tumcreate-int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4160520"/>
            <a:ext cx="2926080" cy="20664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31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1F4F8B"/>
                </a:solidFill>
                <a:latin typeface="Helvetica Neue"/>
              </a:rPr>
              <a:t>BLOCK 0 · 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>
                <a:solidFill>
                  <a:srgbClr val="0A0A0A"/>
                </a:solidFill>
                <a:latin typeface="Helvetica Neue"/>
              </a:rPr>
              <a:t>Where we left 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9476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 i="0">
                <a:solidFill>
                  <a:srgbClr val="555555"/>
                </a:solidFill>
                <a:latin typeface="Helvetica Neue"/>
              </a:rPr>
              <a:t>Last week: how we got here, plus Claude Code and Organon — working agents, built as plain files on disk. Today we open the hood.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Week 1 recap, in one 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5257800" cy="355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0A0A"/>
                </a:solidFill>
                <a:latin typeface="Helvetica Neue"/>
              </a:rPr>
              <a:t>What Week 1 covered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46655"/>
            <a:ext cx="5257800" cy="298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Foundations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two long paths (a 200-yr abstraction staircase + an 80-yr AI road) converge at natural language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Claude Code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the CLI-native coding agent + its primitives: </a:t>
            </a:r>
            <a:r>
              <a:rPr sz="1600" b="0" i="0">
                <a:solidFill>
                  <a:srgbClr val="1A1A1A"/>
                </a:solidFill>
                <a:latin typeface="Menlo"/>
              </a:rPr>
              <a:t>CLAUDE.md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, tools, skills, sub-agents, MCP, hooks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Organon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an agentic OS for scientists; memory, identity &amp; skills as files on disk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The equation: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agent = LLM + primitives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(memory, identity, tools, learnings)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4224" y="1517904"/>
            <a:ext cx="5257800" cy="355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0A0A"/>
                </a:solidFill>
                <a:latin typeface="Helvetica Neue"/>
              </a:rPr>
              <a:t>Where Week 2 goes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4224" y="1946655"/>
            <a:ext cx="5257800" cy="1668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 b="1">
                <a:solidFill>
                  <a:srgbClr val="1F4F8B"/>
                </a:solidFill>
                <a:latin typeface="Helvetica Neue"/>
              </a:rPr>
              <a:t>1.  </a:t>
            </a:r>
            <a:r>
              <a:rPr sz="1600" b="0" i="1">
                <a:solidFill>
                  <a:srgbClr val="1A1A1A"/>
                </a:solidFill>
                <a:latin typeface="Helvetica Neue"/>
              </a:rPr>
              <a:t>Open the box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why LLMs work at all</a:t>
            </a:r>
          </a:p>
          <a:p>
            <a:pPr marL="274320" indent="-274320">
              <a:spcAft>
                <a:spcPts val="500"/>
              </a:spcAft>
            </a:pPr>
            <a:r>
              <a:rPr sz="1600" b="1">
                <a:solidFill>
                  <a:srgbClr val="1F4F8B"/>
                </a:solidFill>
                <a:latin typeface="Helvetica Neue"/>
              </a:rPr>
              <a:t>2.  </a:t>
            </a:r>
            <a:r>
              <a:rPr sz="1600" b="0" i="1">
                <a:solidFill>
                  <a:srgbClr val="1A1A1A"/>
                </a:solidFill>
                <a:latin typeface="Helvetica Neue"/>
              </a:rPr>
              <a:t>Climb the ladder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bare model -&gt; tools -&gt; reasoning</a:t>
            </a:r>
          </a:p>
          <a:p>
            <a:pPr marL="274320" indent="-274320">
              <a:spcAft>
                <a:spcPts val="500"/>
              </a:spcAft>
            </a:pPr>
            <a:r>
              <a:rPr sz="1600" b="1">
                <a:solidFill>
                  <a:srgbClr val="1F4F8B"/>
                </a:solidFill>
                <a:latin typeface="Helvetica Neue"/>
              </a:rPr>
              <a:t>3.  </a:t>
            </a:r>
            <a:r>
              <a:rPr sz="1600" b="0" i="1">
                <a:solidFill>
                  <a:srgbClr val="1A1A1A"/>
                </a:solidFill>
                <a:latin typeface="Helvetica Neue"/>
              </a:rPr>
              <a:t>Pick up a framework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LangChain</a:t>
            </a:r>
          </a:p>
          <a:p>
            <a:pPr marL="274320" indent="-274320">
              <a:spcAft>
                <a:spcPts val="500"/>
              </a:spcAft>
            </a:pPr>
            <a:r>
              <a:rPr sz="1600" b="1">
                <a:solidFill>
                  <a:srgbClr val="1F4F8B"/>
                </a:solidFill>
                <a:latin typeface="Helvetica Neue"/>
              </a:rPr>
              <a:t>4.  </a:t>
            </a:r>
            <a:r>
              <a:rPr sz="1600" b="0" i="1">
                <a:solidFill>
                  <a:srgbClr val="1A1A1A"/>
                </a:solidFill>
                <a:latin typeface="Helvetica Neue"/>
              </a:rPr>
              <a:t>Give it memory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623560"/>
            <a:ext cx="11055096" cy="289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Five Colab notebooks back every idea on the right. You'll run them as we 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31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1F4F8B"/>
                </a:solidFill>
                <a:latin typeface="Helvetica Neue"/>
              </a:rPr>
              <a:t>PART 1 · WHY LLMS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>
                <a:solidFill>
                  <a:srgbClr val="0A0A0A"/>
                </a:solidFill>
                <a:latin typeface="Helvetica Neue"/>
              </a:rPr>
              <a:t>Opening the 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9476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 i="0">
                <a:solidFill>
                  <a:srgbClr val="555555"/>
                </a:solidFill>
                <a:latin typeface="Helvetica Neue"/>
              </a:rPr>
              <a:t>Six slides on what a language model actually is — so "agent" isn't magic stacked on magic.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The unlock: one architecture, three exponentials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5257800" cy="638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For 60 years, language AI was hand-built rules and narrow models. Three things changed at once: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47392"/>
            <a:ext cx="5257800" cy="18684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Architecture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the Transformer (2017): attention replaces recurrence, so training parallelises across a whole sequence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Scale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parameters from millions -&gt; hundreds of billions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Data + compute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train on much of the public web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64224" y="1517904"/>
            <a:ext cx="5257800" cy="152806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18872" bIns="91440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THE BITTER LESSON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General methods that scale with compute beat clever hand-crafted ones. The Transformer was the first language architecture that kept getting better the more data and compute you fed it — no plateau in sight.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64224" y="1517904"/>
            <a:ext cx="54864" cy="152806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3173984"/>
            <a:ext cx="52578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"Attention Is All You Need", Vaswani et al. 2017 — one of the five papers in today's RAG corpus.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Under the hood: the Transformer (2017)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6199632" cy="638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Every modern LLM is built from this. Two stacks of identical blocks; each block is just three ideas: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47392"/>
            <a:ext cx="6199632" cy="1604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Multi-Head Attention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every token weighs what's relevant in all the others (the engine from the last slide)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Feed-Forward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a small per-token network on top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Add &amp; Norm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residuals + normalisation that keep deep stacks trainable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924808"/>
            <a:ext cx="6199632" cy="638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Stack it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N×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, add embeddings + positional encoding — that's the model. Chat LLMs keep the right (decoder) stack.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54296"/>
            <a:ext cx="6199632" cy="106578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18872" bIns="91440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WHY IT MATTERED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No recurrence: the whole sequence is processed in </a:t>
            </a:r>
            <a:r>
              <a:rPr sz="1400" b="1" i="0">
                <a:solidFill>
                  <a:srgbClr val="1A1A1A"/>
                </a:solidFill>
                <a:latin typeface="Helvetica Neue"/>
              </a:rPr>
              <a:t>parallel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 — what made web-scale training possible, and the </a:t>
            </a:r>
            <a:r>
              <a:rPr sz="1400" b="1" i="0">
                <a:solidFill>
                  <a:srgbClr val="1A1A1A"/>
                </a:solidFill>
                <a:latin typeface="Helvetica Neue"/>
              </a:rPr>
              <a:t>T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 in GPT.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654296"/>
            <a:ext cx="54864" cy="106578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5848096"/>
            <a:ext cx="6199632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Figure 1, "Attention Is All You Need", Vaswani et al. 2017 — paper #2 in today's RAG corpus.</a:t>
            </a:r>
          </a:p>
        </p:txBody>
      </p:sp>
      <p:pic>
        <p:nvPicPr>
          <p:cNvPr id="13" name="Picture 12" descr="transformer-architecture-vaswani-2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280160"/>
            <a:ext cx="3154680" cy="40137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One dumb objective: predict the next token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17904"/>
            <a:ext cx="5703661" cy="4572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/>
          <a:lstStyle/>
          <a:p>
            <a:pPr algn="l"/>
            <a:r>
              <a:rPr sz="1350">
                <a:solidFill>
                  <a:srgbClr val="1A1A1A"/>
                </a:solidFill>
                <a:latin typeface="Helvetica Neue"/>
              </a:rPr>
              <a:t>The capital of France is </a:t>
            </a:r>
            <a:r>
              <a:rPr sz="1350" b="1">
                <a:solidFill>
                  <a:srgbClr val="1F4F8B"/>
                </a:solidFill>
                <a:latin typeface="Menlo"/>
              </a:rPr>
              <a:t>____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15568" y="1975104"/>
            <a:ext cx="0" cy="256032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61872" y="1975104"/>
            <a:ext cx="2743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A6A6A"/>
                </a:solidFill>
                <a:latin typeface="Helvetica Neue"/>
              </a:rPr>
              <a:t>P(next token)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295144"/>
            <a:ext cx="1417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Helvetica Neue"/>
              </a:rPr>
              <a:t>“ Paris”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93976" y="2350008"/>
            <a:ext cx="4105656" cy="2011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93976" y="2350008"/>
            <a:ext cx="3736146" cy="201168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2295144"/>
            <a:ext cx="548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0.91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660904"/>
            <a:ext cx="1417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Helvetica Neue"/>
              </a:rPr>
              <a:t>“ a”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93976" y="2715768"/>
            <a:ext cx="4105656" cy="2011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93976" y="2715768"/>
            <a:ext cx="205282" cy="201168"/>
          </a:xfrm>
          <a:prstGeom prst="rect">
            <a:avLst/>
          </a:prstGeom>
          <a:solidFill>
            <a:srgbClr val="9DB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2660904"/>
            <a:ext cx="548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0.02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026664"/>
            <a:ext cx="1417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Helvetica Neue"/>
              </a:rPr>
              <a:t>“ home”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3976" y="3081527"/>
            <a:ext cx="4105656" cy="2011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93976" y="3081527"/>
            <a:ext cx="123169" cy="201168"/>
          </a:xfrm>
          <a:prstGeom prst="rect">
            <a:avLst/>
          </a:prstGeom>
          <a:solidFill>
            <a:srgbClr val="C7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3026664"/>
            <a:ext cx="548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0.01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803904"/>
            <a:ext cx="6199632" cy="902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Train on trillions of tokens with a single self-supervised target: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guess the next token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. No labels, no human annotation — the text is its own answer key.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7456" y="1517904"/>
            <a:ext cx="4544568" cy="355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0A0A"/>
                </a:solidFill>
                <a:latin typeface="Helvetica Neue"/>
              </a:rPr>
              <a:t>Why this is enough.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7456" y="1946655"/>
            <a:ext cx="4544568" cy="1166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To predict the next token well across </a:t>
            </a:r>
            <a:r>
              <a:rPr sz="1600" b="0" i="1">
                <a:solidFill>
                  <a:srgbClr val="1A1A1A"/>
                </a:solidFill>
                <a:latin typeface="Helvetica Neue"/>
              </a:rPr>
              <a:t>all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of human text, the model is forced to learn grammar, facts, translation, arithmetic, code, and a little reasoning.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77456" y="3204464"/>
            <a:ext cx="4544568" cy="152806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18872" bIns="91440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COMPRESSION ≈ UNDERSTANDING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Predicting well means modelling the structure that </a:t>
            </a:r>
            <a:r>
              <a:rPr sz="1400" b="0" i="1">
                <a:solidFill>
                  <a:srgbClr val="1A1A1A"/>
                </a:solidFill>
                <a:latin typeface="Helvetica Neue"/>
              </a:rPr>
              <a:t>generated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 the text. Squeezing the web into weights forces useful abstractions to fall out.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77456" y="3204464"/>
            <a:ext cx="54864" cy="152806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How text becomes math: tokens -&gt; embeddings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5257800" cy="373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Tokenisation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text is split into sub-word </a:t>
            </a:r>
            <a:r>
              <a:rPr sz="1600" b="0" i="1">
                <a:solidFill>
                  <a:srgbClr val="1A1A1A"/>
                </a:solidFill>
                <a:latin typeface="Helvetica Neue"/>
              </a:rPr>
              <a:t>tokens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83232"/>
            <a:ext cx="5257800" cy="615696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bIns="73152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"agentic"  -&gt;  ["agent", "ic"]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"RAG"      -&gt;  ["R", "AG"]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08656"/>
            <a:ext cx="5257800" cy="638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Embedding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each token maps to a vector in a high-dimensional space (hundreds–thousands of dims).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4224" y="1517904"/>
            <a:ext cx="5257800" cy="638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Meaning becomes </a:t>
            </a:r>
            <a:r>
              <a:rPr sz="1600" b="0" i="1">
                <a:solidFill>
                  <a:srgbClr val="1A1A1A"/>
                </a:solidFill>
                <a:latin typeface="Helvetica Neue"/>
              </a:rPr>
              <a:t>geometry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: tokens with similar meaning sit close together.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64224" y="2247392"/>
            <a:ext cx="5257800" cy="615696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bIns="73152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king  - man  + woman  ~  queen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Paris - France + Japan ~ Tokyo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2972816"/>
            <a:ext cx="5257800" cy="129692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18872" bIns="91440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WHY IT MATTERS TODAY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The </a:t>
            </a:r>
            <a:r>
              <a:rPr sz="1400" b="1" i="0">
                <a:solidFill>
                  <a:srgbClr val="1A1A1A"/>
                </a:solidFill>
                <a:latin typeface="Helvetica Neue"/>
              </a:rPr>
              <a:t>same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 embedding idea powers RAG retrieval in Notebook 03 — we embed text chunks and find the nearest ones to a question.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64224" y="2972816"/>
            <a:ext cx="54864" cy="129692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The engine: attention as learned relevance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17904"/>
            <a:ext cx="6199632" cy="512064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/>
          <a:lstStyle/>
          <a:p>
            <a:pPr algn="l"/>
            <a:r>
              <a:rPr sz="1400" b="0">
                <a:solidFill>
                  <a:srgbClr val="1A1A1A"/>
                </a:solidFill>
                <a:latin typeface="Helvetica Neue"/>
              </a:rPr>
              <a:t>The scientist read the paper because </a:t>
            </a:r>
            <a:r>
              <a:rPr sz="1400" b="1">
                <a:solidFill>
                  <a:srgbClr val="1F4F8B"/>
                </a:solidFill>
                <a:latin typeface="Helvetica Neue"/>
              </a:rPr>
              <a:t>it</a:t>
            </a:r>
            <a:r>
              <a:rPr sz="1400" b="0">
                <a:solidFill>
                  <a:srgbClr val="1A1A1A"/>
                </a:solidFill>
                <a:latin typeface="Helvetica Neue"/>
              </a:rPr>
              <a:t> was 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94560"/>
            <a:ext cx="61996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A6A6A"/>
                </a:solidFill>
                <a:latin typeface="Helvetica Neue"/>
              </a:rPr>
              <a:t>what  “it”  attends to — by learned relevance: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96312"/>
            <a:ext cx="1417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Helvetica Neue"/>
              </a:rPr>
              <a:t>paper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93976" y="2551175"/>
            <a:ext cx="4105656" cy="2011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93976" y="2551175"/>
            <a:ext cx="2873959" cy="201168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2496312"/>
            <a:ext cx="548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0.70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862072"/>
            <a:ext cx="1417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1A1A1A"/>
                </a:solidFill>
                <a:latin typeface="Helvetica Neue"/>
              </a:rPr>
              <a:t>scientist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93976" y="2916935"/>
            <a:ext cx="4105656" cy="2011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93976" y="2916935"/>
            <a:ext cx="821131" cy="201168"/>
          </a:xfrm>
          <a:prstGeom prst="rect">
            <a:avLst/>
          </a:prstGeom>
          <a:solidFill>
            <a:srgbClr val="9DB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2862072"/>
            <a:ext cx="548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0.20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602736"/>
            <a:ext cx="6199632" cy="1166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Each token builds its meaning by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attending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to the other tokens that matter — weighting them by learned relevance. Stack this dozens of times and you get rich, context-aware representations.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1517904"/>
            <a:ext cx="4544568" cy="355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0A0A"/>
                </a:solidFill>
                <a:latin typeface="Helvetica Neue"/>
              </a:rPr>
              <a:t>Two properties that changed everything: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1946655"/>
            <a:ext cx="4544568" cy="1804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Parallel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the whole sequence is processed at once (RNNs went word-by-word). This is what made web-scale training feasible.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Long-range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a token can attend to anything in the context window, not just its neighbours.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6" y="3824224"/>
            <a:ext cx="4544568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A Transformer block = attention + a small feed-forward network, repeated N times.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Scaling laws &amp; emergence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5257800" cy="902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Performance improves </a:t>
            </a:r>
            <a:r>
              <a:rPr sz="1600" b="0" i="1">
                <a:solidFill>
                  <a:srgbClr val="1A1A1A"/>
                </a:solidFill>
                <a:latin typeface="Helvetica Neue"/>
              </a:rPr>
              <a:t>predictably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with model size, data, and compute — smooth power-law curves (Kaplan 2020; Hoffmann/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Chinchilla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2022).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511552"/>
            <a:ext cx="5257800" cy="129692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18872" bIns="91440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CHINCHILLA, COMPUTE-OPTIMAL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For a fixed compute budget, scale parameters and data </a:t>
            </a:r>
            <a:r>
              <a:rPr sz="1400" b="0" i="1">
                <a:solidFill>
                  <a:srgbClr val="1A1A1A"/>
                </a:solidFill>
                <a:latin typeface="Helvetica Neue"/>
              </a:rPr>
              <a:t>together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 — about </a:t>
            </a:r>
            <a:r>
              <a:rPr sz="1400" b="1" i="0">
                <a:solidFill>
                  <a:srgbClr val="1A1A1A"/>
                </a:solidFill>
                <a:latin typeface="Helvetica Neue"/>
              </a:rPr>
              <a:t>20 training tokens per parameter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. Most early models were badly under-trained.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511552"/>
            <a:ext cx="54864" cy="129692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936491"/>
            <a:ext cx="52578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Chinchilla is paper #3 in today's RAG corpus — you'll retrieve this exact claim in Notebook 03.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1517904"/>
            <a:ext cx="5257800" cy="902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Emergence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some abilities are absent in small models and appear, fairly abruptly, past a scale threshold: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2511552"/>
            <a:ext cx="5257800" cy="1668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in-context learning (learn from examples in the prompt, no weight update)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multi-step arithmetic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following instructions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chain-of-thought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4252976"/>
            <a:ext cx="5257800" cy="638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The capabilities we build on this week </a:t>
            </a:r>
            <a:r>
              <a:rPr sz="1600" b="0" i="1">
                <a:solidFill>
                  <a:srgbClr val="1A1A1A"/>
                </a:solidFill>
                <a:latin typeface="Helvetica Neue"/>
              </a:rPr>
              <a:t>emerged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from scale — nobody hand-coded them.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Why this architecture fits us so well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5257800" cy="1166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Language is humanity's API.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We already encode knowledge, intent, and reasoning in text. A model fluent in text plugs straight into how we work — no new interface to learn.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775712"/>
            <a:ext cx="5257800" cy="1166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In-context learning ≈ working memory.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Put examples or facts in the prompt and behaviour adapts on the spot, like a person holding instructions in mind for one task.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64224" y="1517904"/>
            <a:ext cx="5257800" cy="1814068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18872" bIns="91440"/>
          <a:lstStyle/>
          <a:p>
            <a:pPr algn="l"/>
            <a:r>
              <a:rPr sz="1050" b="1">
                <a:solidFill>
                  <a:srgbClr val="4A7D3F"/>
                </a:solidFill>
                <a:latin typeface="Helvetica Neue"/>
              </a:rPr>
              <a:t>SYSTEM 1 VS SYSTEM 2 (KAHNEMAN)</a:t>
            </a: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1A1A1A"/>
                </a:solidFill>
                <a:latin typeface="Helvetica Neue"/>
              </a:rPr>
              <a:t>System 1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 — fast, automatic, intuitive. A raw next-token answer is System-1-like: one fluent pass, no deliberation.</a:t>
            </a:r>
          </a:p>
          <a:p>
            <a:pPr algn="l">
              <a:spcBef>
                <a:spcPts val="400"/>
              </a:spcBef>
            </a:pPr>
            <a:r>
              <a:rPr sz="1400" b="1" i="0">
                <a:solidFill>
                  <a:srgbClr val="1A1A1A"/>
                </a:solidFill>
                <a:latin typeface="Helvetica Neue"/>
              </a:rPr>
              <a:t>System 2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 — slow, effortful, step-by-step. We </a:t>
            </a:r>
            <a:r>
              <a:rPr sz="1400" b="0" i="1">
                <a:solidFill>
                  <a:srgbClr val="1A1A1A"/>
                </a:solidFill>
                <a:latin typeface="Helvetica Neue"/>
              </a:rPr>
              <a:t>elicit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 it by asking the model to reason out loud.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64224" y="1517904"/>
            <a:ext cx="54864" cy="1814068"/>
          </a:xfrm>
          <a:prstGeom prst="rect">
            <a:avLst/>
          </a:prstGeom>
          <a:solidFill>
            <a:srgbClr val="4A7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3459988"/>
            <a:ext cx="5257800" cy="902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That single idea —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make the fast model slow down and deliberate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is the seed of every reasoning pattern in Part 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623560"/>
            <a:ext cx="11055096" cy="289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Analogy, not a claim that models literally think. It's a useful map for </a:t>
            </a:r>
            <a:r>
              <a:rPr sz="1200" b="0" i="1">
                <a:solidFill>
                  <a:srgbClr val="6A6A6A"/>
                </a:solidFill>
                <a:latin typeface="Helvetica Neue"/>
              </a:rPr>
              <a:t>why</a:t>
            </a:r>
            <a:r>
              <a:rPr sz="1200" b="0" i="0">
                <a:solidFill>
                  <a:srgbClr val="6A6A6A"/>
                </a:solidFill>
                <a:latin typeface="Helvetica Neue"/>
              </a:rPr>
              <a:t> the patterns 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31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1F4F8B"/>
                </a:solidFill>
                <a:latin typeface="Helvetica Neue"/>
              </a:rPr>
              <a:t>PART 2 · SINGLE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>
                <a:solidFill>
                  <a:srgbClr val="0A0A0A"/>
                </a:solidFill>
                <a:latin typeface="Helvetica Neue"/>
              </a:rPr>
              <a:t>The agentic ladder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9476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 i="0">
                <a:solidFill>
                  <a:srgbClr val="555555"/>
                </a:solidFill>
                <a:latin typeface="Helvetica Neue"/>
              </a:rPr>
              <a:t>From a bare model to a reasoning, tool-using agent — one rung at a time. All single-agent this week; multi-agent is Week 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The ladder — what we climb 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17904"/>
            <a:ext cx="841248" cy="640080"/>
          </a:xfrm>
          <a:prstGeom prst="roundRect">
            <a:avLst>
              <a:gd name="adj" fmla="val 12000"/>
            </a:avLst>
          </a:prstGeom>
          <a:solidFill>
            <a:srgbClr val="C8553D"/>
          </a:solidFill>
          <a:ln w="15875">
            <a:solidFill>
              <a:srgbClr val="C85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700" b="1">
                <a:solidFill>
                  <a:srgbClr val="FFFFFF"/>
                </a:solidFill>
                <a:latin typeface="Helvetica Neue"/>
              </a:rPr>
              <a:t>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36192" y="1517904"/>
            <a:ext cx="8924544" cy="64008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1517904"/>
            <a:ext cx="85587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Helvetica Neue"/>
              </a:rPr>
              <a:t>Multi-agent systems    </a:t>
            </a:r>
            <a:r>
              <a:rPr sz="1300">
                <a:solidFill>
                  <a:srgbClr val="6A6A6A"/>
                </a:solidFill>
                <a:latin typeface="Helvetica Neue"/>
              </a:rPr>
              <a:t>specialists + orchestration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70463" y="1673351"/>
            <a:ext cx="1051560" cy="329184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C85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C8553D"/>
                </a:solidFill>
                <a:latin typeface="Helvetica Neue"/>
              </a:rPr>
              <a:t>→ Week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67712"/>
            <a:ext cx="841248" cy="640080"/>
          </a:xfrm>
          <a:prstGeom prst="roundRect">
            <a:avLst>
              <a:gd name="adj" fmla="val 12000"/>
            </a:avLst>
          </a:prstGeom>
          <a:solidFill>
            <a:srgbClr val="4A7D3F"/>
          </a:solidFill>
          <a:ln w="15875">
            <a:solidFill>
              <a:srgbClr val="4A7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700" b="1">
                <a:solidFill>
                  <a:srgbClr val="FFFFFF"/>
                </a:solidFill>
                <a:latin typeface="Helvetica Neue"/>
              </a:rPr>
              <a:t>L2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36192" y="2267712"/>
            <a:ext cx="8924544" cy="64008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2267712"/>
            <a:ext cx="85587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Helvetica Neue"/>
              </a:rPr>
              <a:t>+ Reasoning    </a:t>
            </a:r>
            <a:r>
              <a:rPr sz="1300">
                <a:solidFill>
                  <a:srgbClr val="6A6A6A"/>
                </a:solidFill>
                <a:latin typeface="Helvetica Neue"/>
              </a:rPr>
              <a:t>CoT · ToT · ReAct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70463" y="2423160"/>
            <a:ext cx="1051560" cy="329184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4A7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A7D3F"/>
                </a:solidFill>
                <a:latin typeface="Helvetica Neue"/>
              </a:rPr>
              <a:t>today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017520"/>
            <a:ext cx="841248" cy="640080"/>
          </a:xfrm>
          <a:prstGeom prst="roundRect">
            <a:avLst>
              <a:gd name="adj" fmla="val 12000"/>
            </a:avLst>
          </a:prstGeom>
          <a:solidFill>
            <a:srgbClr val="4A7D3F"/>
          </a:solidFill>
          <a:ln w="15875">
            <a:solidFill>
              <a:srgbClr val="4A7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700" b="1">
                <a:solidFill>
                  <a:srgbClr val="FFFFFF"/>
                </a:solidFill>
                <a:latin typeface="Helvetica Neue"/>
              </a:rPr>
              <a:t>L1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36192" y="3017520"/>
            <a:ext cx="8924544" cy="64008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3017520"/>
            <a:ext cx="85587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Helvetica Neue"/>
              </a:rPr>
              <a:t>+ Tool use    </a:t>
            </a:r>
            <a:r>
              <a:rPr sz="1300">
                <a:solidFill>
                  <a:srgbClr val="6A6A6A"/>
                </a:solidFill>
                <a:latin typeface="Helvetica Neue"/>
              </a:rPr>
              <a:t>the model acts on the world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70463" y="3172968"/>
            <a:ext cx="1051560" cy="329184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4A7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A7D3F"/>
                </a:solidFill>
                <a:latin typeface="Helvetica Neue"/>
              </a:rPr>
              <a:t>today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767328"/>
            <a:ext cx="841248" cy="640080"/>
          </a:xfrm>
          <a:prstGeom prst="roundRect">
            <a:avLst>
              <a:gd name="adj" fmla="val 12000"/>
            </a:avLst>
          </a:prstGeom>
          <a:solidFill>
            <a:srgbClr val="1F4F8B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700" b="1">
                <a:solidFill>
                  <a:srgbClr val="FFFFFF"/>
                </a:solidFill>
                <a:latin typeface="Helvetica Neue"/>
              </a:rPr>
              <a:t>L0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36192" y="3767328"/>
            <a:ext cx="8924544" cy="64008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37360" y="3767328"/>
            <a:ext cx="855878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0A0A0A"/>
                </a:solidFill>
                <a:latin typeface="Helvetica Neue"/>
              </a:rPr>
              <a:t>Bare LLM    </a:t>
            </a:r>
            <a:r>
              <a:rPr sz="1300">
                <a:solidFill>
                  <a:srgbClr val="6A6A6A"/>
                </a:solidFill>
                <a:latin typeface="Helvetica Neue"/>
              </a:rPr>
              <a:t>one prompt, one answer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70463" y="3922776"/>
            <a:ext cx="1051560" cy="329184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4A7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A7D3F"/>
                </a:solidFill>
                <a:latin typeface="Helvetica Neue"/>
              </a:rPr>
              <a:t>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681728"/>
            <a:ext cx="5257800" cy="902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Each rung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adds one capability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to the rung below. Nothing here is a new model — it's the same LLM with more scaffolding around 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64224" y="4681728"/>
            <a:ext cx="5257800" cy="129692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18872" bIns="91440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THE THREAD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L0 answers. L1 lets it </a:t>
            </a:r>
            <a:r>
              <a:rPr sz="1400" b="0" i="1">
                <a:solidFill>
                  <a:srgbClr val="1A1A1A"/>
                </a:solidFill>
                <a:latin typeface="Helvetica Neue"/>
              </a:rPr>
              <a:t>act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. L2 lets it </a:t>
            </a:r>
            <a:r>
              <a:rPr sz="1400" b="0" i="1">
                <a:solidFill>
                  <a:srgbClr val="1A1A1A"/>
                </a:solidFill>
                <a:latin typeface="Helvetica Neue"/>
              </a:rPr>
              <a:t>deliberate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. The "agent" is the loop you wrap around the model — not the model itself.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224" y="4681728"/>
            <a:ext cx="54864" cy="129692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Anatomy of an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1436" y="1517904"/>
            <a:ext cx="2926080" cy="676656"/>
          </a:xfrm>
          <a:prstGeom prst="roundRect">
            <a:avLst>
              <a:gd name="adj" fmla="val 12000"/>
            </a:avLst>
          </a:prstGeom>
          <a:solidFill>
            <a:srgbClr val="1F4F8B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700" b="1">
                <a:solidFill>
                  <a:srgbClr val="FFFFFF"/>
                </a:solidFill>
                <a:latin typeface="Helvetica Neue"/>
              </a:rPr>
              <a:t>LLM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FFFFFF"/>
                </a:solidFill>
                <a:latin typeface="Helvetica Neue"/>
              </a:rPr>
              <a:t>the brain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108960"/>
            <a:ext cx="3200400" cy="1188720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4A7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600" b="1">
                <a:solidFill>
                  <a:srgbClr val="4A7D3F"/>
                </a:solidFill>
                <a:latin typeface="Helvetica Neue"/>
              </a:rPr>
              <a:t>Tools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6A6A6A"/>
                </a:solidFill>
                <a:latin typeface="Helvetica Neue"/>
              </a:rPr>
              <a:t>APIs · DBs · code · functions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4276" y="3108960"/>
            <a:ext cx="3200400" cy="1188720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600" b="1">
                <a:solidFill>
                  <a:srgbClr val="1F4F8B"/>
                </a:solidFill>
                <a:latin typeface="Helvetica Neue"/>
              </a:rPr>
              <a:t>Memory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6A6A6A"/>
                </a:solidFill>
                <a:latin typeface="Helvetica Neue"/>
              </a:rPr>
              <a:t>context window + RAG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21624" y="3108960"/>
            <a:ext cx="3200400" cy="1188720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C85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600" b="1">
                <a:solidFill>
                  <a:srgbClr val="C8553D"/>
                </a:solidFill>
                <a:latin typeface="Helvetica Neue"/>
              </a:rPr>
              <a:t>Control loop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6A6A6A"/>
                </a:solidFill>
                <a:latin typeface="Helvetica Neue"/>
              </a:rPr>
              <a:t>you write this!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4476" y="2194560"/>
            <a:ext cx="0" cy="457200"/>
          </a:xfrm>
          <a:prstGeom prst="line">
            <a:avLst/>
          </a:prstGeom>
          <a:ln w="19050">
            <a:solidFill>
              <a:srgbClr val="6A6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167128" y="2651760"/>
            <a:ext cx="7854696" cy="0"/>
          </a:xfrm>
          <a:prstGeom prst="line">
            <a:avLst/>
          </a:prstGeom>
          <a:ln w="19050">
            <a:solidFill>
              <a:srgbClr val="6A6A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167128" y="2651760"/>
            <a:ext cx="0" cy="457200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4476" y="2651760"/>
            <a:ext cx="0" cy="457200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021824" y="2651760"/>
            <a:ext cx="0" cy="457200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4471416"/>
            <a:ext cx="11055096" cy="638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Tools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= capability.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Memory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= state.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Loop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= agency. Take away the loop and you have an LLM call. Take away tools and you have a chatbot. Take away memory and you have amnesia.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L0 — the bare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5257800" cy="638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One prompt in, one answer out. Brilliant at language; blind beyond its training.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47392"/>
            <a:ext cx="5257800" cy="355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0A0A"/>
                </a:solidFill>
                <a:latin typeface="Helvetica Neue"/>
              </a:rPr>
              <a:t>What it cannot do: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676144"/>
            <a:ext cx="5257800" cy="1996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Know anything after its training cut-off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Look up a fact it didn't memorise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Do anything in the world (send mail, query a DB, run code)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Reliably do long exact arithmetic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Tell you </a:t>
            </a:r>
            <a:r>
              <a:rPr sz="1600" b="0" i="1">
                <a:solidFill>
                  <a:srgbClr val="1A1A1A"/>
                </a:solidFill>
                <a:latin typeface="Helvetica Neue"/>
              </a:rPr>
              <a:t>why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it's confident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64224" y="1517904"/>
            <a:ext cx="5257800" cy="417576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bIns="73152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user -&gt; LLM -&gt; answer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4224" y="2045208"/>
            <a:ext cx="5257800" cy="129692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18872" bIns="91440"/>
          <a:lstStyle/>
          <a:p>
            <a:pPr algn="l"/>
            <a:r>
              <a:rPr sz="1050" b="1">
                <a:solidFill>
                  <a:srgbClr val="C8553D"/>
                </a:solidFill>
                <a:latin typeface="Helvetica Neue"/>
              </a:rPr>
              <a:t>THE CEILING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A bare LLM is a brilliant </a:t>
            </a:r>
            <a:r>
              <a:rPr sz="1400" b="0" i="1">
                <a:solidFill>
                  <a:srgbClr val="1A1A1A"/>
                </a:solidFill>
                <a:latin typeface="Helvetica Neue"/>
              </a:rPr>
              <a:t>improviser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 with no hands, no memory of today, and no scratchpad. Everything above this rung removes one of those limits.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64224" y="2045208"/>
            <a:ext cx="54864" cy="1296924"/>
          </a:xfrm>
          <a:prstGeom prst="rect">
            <a:avLst/>
          </a:prstGeom>
          <a:solidFill>
            <a:srgbClr val="C8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L1 — tool use: give the model hands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6199632" cy="638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A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tool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is just a function the model may ask you to call. The loop: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247392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1F4F8B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" y="2247392"/>
            <a:ext cx="4736592" cy="420624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l"/>
            <a:r>
              <a:rPr sz="1250" b="0" i="0">
                <a:solidFill>
                  <a:srgbClr val="1A1A1A"/>
                </a:solidFill>
                <a:latin typeface="Helvetica Neue"/>
              </a:rPr>
              <a:t>LLM reads the question + tool list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668016"/>
            <a:ext cx="0" cy="164592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2832608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1F4F8B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5568" y="2832608"/>
            <a:ext cx="4736592" cy="420624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l"/>
            <a:r>
              <a:rPr sz="1250" b="0" i="0">
                <a:solidFill>
                  <a:srgbClr val="1A1A1A"/>
                </a:solidFill>
                <a:latin typeface="Helvetica Neue"/>
              </a:rPr>
              <a:t>LLM requests a call:  calculator(17×25)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3253232"/>
            <a:ext cx="0" cy="164592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66928" y="3417824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4A7D3F"/>
          </a:solidFill>
          <a:ln w="15875">
            <a:solidFill>
              <a:srgbClr val="4A7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15568" y="3417824"/>
            <a:ext cx="4736592" cy="420624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l"/>
            <a:r>
              <a:rPr sz="1250" b="0" i="0">
                <a:solidFill>
                  <a:srgbClr val="1A1A1A"/>
                </a:solidFill>
                <a:latin typeface="Helvetica Neue"/>
              </a:rPr>
              <a:t>YOUR code runs the function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3838448"/>
            <a:ext cx="0" cy="164591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66928" y="400304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1F4F8B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15568" y="4003040"/>
            <a:ext cx="4736592" cy="420624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l"/>
            <a:r>
              <a:rPr sz="1250" b="0" i="0">
                <a:solidFill>
                  <a:srgbClr val="1A1A1A"/>
                </a:solidFill>
                <a:latin typeface="Helvetica Neue"/>
              </a:rPr>
              <a:t>feed the result back to the LLM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240" y="4423664"/>
            <a:ext cx="0" cy="164592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66928" y="4588256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1F4F8B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15568" y="4588256"/>
            <a:ext cx="4736592" cy="420624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l"/>
            <a:r>
              <a:rPr sz="1250" b="0" i="0">
                <a:solidFill>
                  <a:srgbClr val="1A1A1A"/>
                </a:solidFill>
                <a:latin typeface="Helvetica Neue"/>
              </a:rPr>
              <a:t>repeat until the LLM is done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70448" y="4707128"/>
            <a:ext cx="621792" cy="0"/>
          </a:xfrm>
          <a:prstGeom prst="line">
            <a:avLst/>
          </a:prstGeom>
          <a:ln w="19050">
            <a:solidFill>
              <a:srgbClr val="4A7D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492240" y="2457704"/>
            <a:ext cx="0" cy="2249424"/>
          </a:xfrm>
          <a:prstGeom prst="line">
            <a:avLst/>
          </a:prstGeom>
          <a:ln w="19050">
            <a:solidFill>
              <a:srgbClr val="4A7D3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5870448" y="2457704"/>
            <a:ext cx="621792" cy="0"/>
          </a:xfrm>
          <a:prstGeom prst="line">
            <a:avLst/>
          </a:prstGeom>
          <a:ln w="19050">
            <a:solidFill>
              <a:srgbClr val="4A7D3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852160" y="3481832"/>
            <a:ext cx="8686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4A7D3F"/>
                </a:solidFill>
                <a:latin typeface="Helvetica Neue"/>
              </a:rPr>
              <a:t>loop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466080"/>
            <a:ext cx="6199632" cy="638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The model never runs anything. It </a:t>
            </a:r>
            <a:r>
              <a:rPr sz="1600" b="0" i="1">
                <a:solidFill>
                  <a:srgbClr val="1A1A1A"/>
                </a:solidFill>
                <a:latin typeface="Helvetica Neue"/>
              </a:rPr>
              <a:t>requests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; your code executes and returns the result.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6" y="1517904"/>
            <a:ext cx="4544568" cy="902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Function calling.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Modern models are fine-tuned to pick a tool and fill its arguments from a schema you provide.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77456" y="2511552"/>
            <a:ext cx="4544568" cy="129692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18872" bIns="91440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WHO CARRIES THE RESPONSIBILITY?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The </a:t>
            </a:r>
            <a:r>
              <a:rPr sz="1400" b="1" i="0">
                <a:solidFill>
                  <a:srgbClr val="1A1A1A"/>
                </a:solidFill>
                <a:latin typeface="Helvetica Neue"/>
              </a:rPr>
              <a:t>vendor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 trained the tool-selection skill. </a:t>
            </a:r>
            <a:r>
              <a:rPr sz="1400" b="1" i="0">
                <a:solidFill>
                  <a:srgbClr val="1A1A1A"/>
                </a:solidFill>
                <a:latin typeface="Helvetica Neue"/>
              </a:rPr>
              <a:t>You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 own writing clear tool names + descriptions. Get those right and the model routes well.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77456" y="2511552"/>
            <a:ext cx="54864" cy="129692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77456" y="3936491"/>
            <a:ext cx="4544568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Suddenly the model can fetch fresh facts, query data, and act — L0's ceiling is gone.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L2 — reasoning: make the fast model slow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5096" cy="638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The jump from L1 to L2 is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System 1 -&gt; System 2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. Same model, but we change the prompt so it </a:t>
            </a:r>
            <a:r>
              <a:rPr sz="1600" b="0" i="1">
                <a:solidFill>
                  <a:srgbClr val="1A1A1A"/>
                </a:solidFill>
                <a:latin typeface="Helvetica Neue"/>
              </a:rPr>
              <a:t>deliberates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before it answers or 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210816"/>
            <a:ext cx="5257800" cy="834643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18872" bIns="91440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CHAIN-OF-THOUGHT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Think in a straight line, out loud.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210816"/>
            <a:ext cx="54864" cy="834643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3173476"/>
            <a:ext cx="5257800" cy="106578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18872" bIns="91440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TREE-OF-THOUGHTS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Branch, evaluate, search — don't bet on the first idea.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173476"/>
            <a:ext cx="54864" cy="106578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64224" y="2210816"/>
            <a:ext cx="5257800" cy="834643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18872" bIns="91440"/>
          <a:lstStyle/>
          <a:p>
            <a:pPr algn="l"/>
            <a:r>
              <a:rPr sz="1050" b="1">
                <a:solidFill>
                  <a:srgbClr val="4A7D3F"/>
                </a:solidFill>
                <a:latin typeface="Helvetica Neue"/>
              </a:rPr>
              <a:t>REACT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Reason </a:t>
            </a:r>
            <a:r>
              <a:rPr sz="1400" b="0" i="1">
                <a:solidFill>
                  <a:srgbClr val="1A1A1A"/>
                </a:solidFill>
                <a:latin typeface="Helvetica Neue"/>
              </a:rPr>
              <a:t>and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 act — interleave thinking with tool calls.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64224" y="2210816"/>
            <a:ext cx="54864" cy="834643"/>
          </a:xfrm>
          <a:prstGeom prst="rect">
            <a:avLst/>
          </a:prstGeom>
          <a:solidFill>
            <a:srgbClr val="4A7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3173476"/>
            <a:ext cx="52578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CoT is the base. ToT searches over it. ReAct couples it to L1's tools. The next four slides take each in turn.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Chain-of-Thought (CoT)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6199632" cy="373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Five words change the answer: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"Let's think step by step."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83232"/>
            <a:ext cx="6199632" cy="2200656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bIns="73152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Q: A juggler has 16 balls. Half are golf balls,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   and half of those are blue. How many blue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   golf balls?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DIRECT:           4        (right or wrong, no trace)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STEP BY STEP: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  16 balls -&gt; half golf      = 8 golf balls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  8 golf  -&gt; half blue       = 4 blue golf balls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  Answer: 4                  (visible, checkable)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77456" y="1517904"/>
            <a:ext cx="4544568" cy="902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The model uses its own intermediate tokens as a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scratchpad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deliberate reasoning, summoned by a prompt.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77456" y="2511552"/>
            <a:ext cx="4544568" cy="129692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18872" bIns="91440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WHY IT WORKS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Hard problems need intermediate steps. Forcing the model to write them spends compute </a:t>
            </a:r>
            <a:r>
              <a:rPr sz="1400" b="0" i="1">
                <a:solidFill>
                  <a:srgbClr val="1A1A1A"/>
                </a:solidFill>
                <a:latin typeface="Helvetica Neue"/>
              </a:rPr>
              <a:t>before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 the answer, instead of guessing in one pass.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77456" y="2511552"/>
            <a:ext cx="54864" cy="129692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77456" y="3936491"/>
            <a:ext cx="4544568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CoT is System 2, on demand. It's the building block ReAct extends.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Tree-of-Thoughts (ToT)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6199632" cy="638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CoT commits to one line of reasoning. If an early step is wrong, the whole chain is wrong.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ToT treats reasoning as search.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60903" y="2247392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1F4F8B"/>
                </a:solidFill>
                <a:latin typeface="Helvetica Neue"/>
              </a:rPr>
              <a:t>problem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367028" y="2704592"/>
            <a:ext cx="2299716" cy="502920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66928" y="3207512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4A7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4A7D3F"/>
                </a:solidFill>
                <a:latin typeface="Helvetica Neue"/>
              </a:rPr>
              <a:t>branch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6A6A6A"/>
                </a:solidFill>
                <a:latin typeface="Helvetica Neue"/>
              </a:rPr>
              <a:t>✓ sure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66744" y="2704592"/>
            <a:ext cx="0" cy="502920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66644" y="3207512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1F4F8B"/>
                </a:solidFill>
                <a:latin typeface="Helvetica Neue"/>
              </a:rPr>
              <a:t>branch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6A6A6A"/>
                </a:solidFill>
                <a:latin typeface="Helvetica Neue"/>
              </a:rPr>
              <a:t>~ maybe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66744" y="2704592"/>
            <a:ext cx="2299716" cy="502920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66360" y="3207512"/>
            <a:ext cx="1600200" cy="457200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C85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C8553D"/>
                </a:solidFill>
                <a:latin typeface="Helvetica Neue"/>
              </a:rPr>
              <a:t>branch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6A6A6A"/>
                </a:solidFill>
                <a:latin typeface="Helvetica Neue"/>
              </a:rPr>
              <a:t>✗ dead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67028" y="3664712"/>
            <a:ext cx="0" cy="411480"/>
          </a:xfrm>
          <a:prstGeom prst="line">
            <a:avLst/>
          </a:prstGeom>
          <a:ln w="19050">
            <a:solidFill>
              <a:srgbClr val="4A7D3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75488" y="4076192"/>
            <a:ext cx="1783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4A7D3F"/>
                </a:solidFill>
                <a:latin typeface="Helvetica Neue"/>
              </a:rPr>
              <a:t>expand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4076192"/>
            <a:ext cx="1783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C8553D"/>
                </a:solidFill>
                <a:latin typeface="Helvetica Neue"/>
              </a:rPr>
              <a:t>prune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1517904"/>
            <a:ext cx="4544568" cy="638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Propose -&gt; evaluate -&gt; expand the best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, with backtracking out of dead ends.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77456" y="2247392"/>
            <a:ext cx="4544568" cy="152806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18872" bIns="91440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THE TRADE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ToT spends a lot more compute (many model calls) to buy accuracy on problems where one CoT chain routinely fails — planning, puzzles, proof search.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77456" y="2247392"/>
            <a:ext cx="54864" cy="152806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77456" y="3903472"/>
            <a:ext cx="4544568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Notebook 02 shows one propose/evaluate level live on the Game of 24.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ReAct = Reason + 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6199632" cy="902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CoT thinks. L1 acts.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ReAct interleaves them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in one loop (Yao et al. 2022): a Thought, an Action (tool call), the Observation it returns — repeat.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511552"/>
            <a:ext cx="6199632" cy="2200656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bIns="73152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Answer the question. Tools: {tools}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Question: the input question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Thought:  reasoning about what to do next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Action:   one of [{tool_names}]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Action Input: the input to the action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Observation: the result of the action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... (repeat) ...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Thought:  I now know the final answer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Final Answer: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77456" y="1517904"/>
            <a:ext cx="4544568" cy="902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There is no "ReAct API".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It's English in a fixed format that the model produces and </a:t>
            </a:r>
            <a:r>
              <a:rPr sz="1600" b="0" i="1">
                <a:solidFill>
                  <a:srgbClr val="1A1A1A"/>
                </a:solidFill>
                <a:latin typeface="Helvetica Neue"/>
              </a:rPr>
              <a:t>we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parse.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77456" y="2511552"/>
            <a:ext cx="4544568" cy="152806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18872" bIns="91440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THE MECHANISM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Stop the model right after "Action Input". Run the tool yourself. Append the real "Observation". Re-prompt. The model never hallucinates a result — it reads the one your code returned.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77456" y="2511552"/>
            <a:ext cx="54864" cy="152806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What a ReAct trace looks like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17904"/>
            <a:ext cx="11055096" cy="3785616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bIns="73152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Thought: I need the authors of the ReAct paper first.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Action: web_search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Action Input: ReAct paper LLM reasoning acting authors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Observation: Yao et al., ICLR 2023 (arXiv:2210.03629).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Thought: Now the year of the transformer paper.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Action: web_search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Action Input: transformer paper Attention Is All You Need year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Observation: Published in 2017 (Vaswani et al.).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Thought: I have both. 2023 - 2017.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Action: calculator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Action Input: 2023 - 2017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Observation: 6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Thought: I now know the final answer.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Final Answer: ReAct (Yao et al., 2023) came six years after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the transformer paper (Vaswani et al., 2017).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413248"/>
            <a:ext cx="11055096" cy="289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Thought -&gt; Action -&gt; Observation, repeat. That loop </a:t>
            </a:r>
            <a:r>
              <a:rPr sz="1200" b="0" i="1">
                <a:solidFill>
                  <a:srgbClr val="6A6A6A"/>
                </a:solidFill>
                <a:latin typeface="Helvetica Neue"/>
              </a:rPr>
              <a:t>is</a:t>
            </a:r>
            <a:r>
              <a:rPr sz="1200" b="0" i="0">
                <a:solidFill>
                  <a:srgbClr val="6A6A6A"/>
                </a:solidFill>
                <a:latin typeface="Helvetica Neue"/>
              </a:rPr>
              <a:t> the agent. You'll build it by hand in Notebook 02.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Two ways to pick a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5257800" cy="4051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A0A0A"/>
                </a:solidFill>
                <a:latin typeface="Helvetica Neue"/>
              </a:rPr>
              <a:t>ReAct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77898"/>
            <a:ext cx="5257800" cy="902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Tool choice lives in the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prompt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you write. The model emits </a:t>
            </a:r>
            <a:r>
              <a:rPr sz="1600" b="0" i="0">
                <a:solidFill>
                  <a:srgbClr val="1A1A1A"/>
                </a:solidFill>
                <a:latin typeface="Menlo"/>
              </a:rPr>
              <a:t>Action: / Action Input: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as text; you parse it with a regex.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971546"/>
            <a:ext cx="5257800" cy="1011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High control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read and edit every step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Brittle parsing; works even on models with no native tool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4224" y="1517904"/>
            <a:ext cx="5257800" cy="4051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A0A0A"/>
                </a:solidFill>
                <a:latin typeface="Helvetica Neue"/>
              </a:rPr>
              <a:t>Function-calling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1977898"/>
            <a:ext cx="5257800" cy="638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Tool choice is the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model vendor's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native capability. It returns a structured tool call; no parsing.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2707386"/>
            <a:ext cx="5257800" cy="747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Less control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, much less headache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Robust; needs a modern tool-calling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28618"/>
            <a:ext cx="11055096" cy="106578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18872" bIns="91440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"WHERE DO WE SHIFT THE RESPONSIBILITY?"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ReAct keeps tool selection in </a:t>
            </a:r>
            <a:r>
              <a:rPr sz="1400" b="0" i="1">
                <a:solidFill>
                  <a:srgbClr val="1A1A1A"/>
                </a:solidFill>
                <a:latin typeface="Helvetica Neue"/>
              </a:rPr>
              <a:t>your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 prompt; the function-calling agent shifts it to the </a:t>
            </a:r>
            <a:r>
              <a:rPr sz="1400" b="0" i="1">
                <a:solidFill>
                  <a:srgbClr val="1A1A1A"/>
                </a:solidFill>
                <a:latin typeface="Helvetica Neue"/>
              </a:rPr>
              <a:t>vendor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. Most production agents use function calling; ReAct remains the clearest way to </a:t>
            </a:r>
            <a:r>
              <a:rPr sz="1400" b="0" i="1">
                <a:solidFill>
                  <a:srgbClr val="1A1A1A"/>
                </a:solidFill>
                <a:latin typeface="Helvetica Neue"/>
              </a:rPr>
              <a:t>understand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 what an agent 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928618"/>
            <a:ext cx="54864" cy="106578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31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1F4F8B"/>
                </a:solidFill>
                <a:latin typeface="Helvetica Neue"/>
              </a:rPr>
              <a:t>PART 3 · THE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>
                <a:solidFill>
                  <a:srgbClr val="0A0A0A"/>
                </a:solidFill>
                <a:latin typeface="Helvetica Neue"/>
              </a:rPr>
              <a:t>A short intro to LangChain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9476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 i="0">
                <a:solidFill>
                  <a:srgbClr val="555555"/>
                </a:solidFill>
                <a:latin typeface="Helvetica Neue"/>
              </a:rPr>
              <a:t>We've climbed the ladder by hand. LangChain is the standard toolkit that implements every rung — so you don't re-write the loop each time.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What LangChain is (and isn't)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5257800" cy="902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A thin,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vendor-neutral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layer over "call a model, give it a prompt, maybe tools, parse the output." The same code runs on Anthropic, OpenAI, Google.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11552"/>
            <a:ext cx="5257800" cy="355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0A0A"/>
                </a:solidFill>
                <a:latin typeface="Helvetica Neue"/>
              </a:rPr>
              <a:t>Five pieces, one operator: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940304"/>
          <a:ext cx="5257800" cy="19751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28900"/>
                <a:gridCol w="262890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A0A0A"/>
                          </a:solidFill>
                          <a:latin typeface="Helvetica Neue"/>
                        </a:rPr>
                        <a:t>Piece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A0A0A"/>
                          </a:solidFill>
                          <a:latin typeface="Helvetica Neue"/>
                        </a:rPr>
                        <a:t>Class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Model wrapper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ChatAnthropic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Messages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SystemMessage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 / 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HumanMessage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Prompt template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ChatPromptTemplate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Output parser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StrOutputParser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Tool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@tool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64224" y="1517904"/>
            <a:ext cx="5257800" cy="638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LCEL — the pipe.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Connect components with </a:t>
            </a:r>
            <a:r>
              <a:rPr sz="1600" b="0" i="0">
                <a:solidFill>
                  <a:srgbClr val="1A1A1A"/>
                </a:solidFill>
                <a:latin typeface="Menlo"/>
              </a:rPr>
              <a:t>|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, like a Unix pipe: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64224" y="2247392"/>
            <a:ext cx="5257800" cy="615696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bIns="73152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chain = prompt | llm | parser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chain.invoke({"concept": "embeddings"})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2972816"/>
            <a:ext cx="5257800" cy="129692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18872" bIns="91440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IT ISN'T MAGIC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Everything we built by hand — the tool loop, the ReAct parse — LangChain wraps in one call. Because you built the primitive first, the abstraction is transparent.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64224" y="2972816"/>
            <a:ext cx="54864" cy="129692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LangChain implements the ladder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517904"/>
          <a:ext cx="11055096" cy="164591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85032"/>
                <a:gridCol w="3685032"/>
                <a:gridCol w="3685032"/>
              </a:tblGrid>
              <a:tr h="329183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A0A0A"/>
                          </a:solidFill>
                          <a:latin typeface="Helvetica Neue"/>
                        </a:rPr>
                        <a:t>Rung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A0A0A"/>
                          </a:solidFill>
                          <a:latin typeface="Helvetica Neue"/>
                        </a:rPr>
                        <a:t>By hand (Parts 1-2)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A0A0A"/>
                          </a:solidFill>
                          <a:latin typeface="Helvetica Neue"/>
                        </a:rPr>
                        <a:t>In LangChain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A1A"/>
                          </a:solidFill>
                          <a:latin typeface="Helvetica Neue"/>
                        </a:rPr>
                        <a:t>L0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 bare model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client.messages.create(...)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ChatAnthropic(...).invoke(...)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A1A"/>
                          </a:solidFill>
                          <a:latin typeface="Helvetica Neue"/>
                        </a:rPr>
                        <a:t>L1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 tool use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your 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for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 loop + regex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create_tool_calling_agent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 + 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AgentExecutor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A1A"/>
                          </a:solidFill>
                          <a:latin typeface="Helvetica Neue"/>
                        </a:rPr>
                        <a:t>L2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 ReAct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your prompt + 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parse_action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create_react_agent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 + 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AgentExecutor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A1A"/>
                          </a:solidFill>
                          <a:latin typeface="Helvetica Neue"/>
                        </a:rPr>
                        <a:t>Memory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 (RAG)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manual chunk + embed + search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loaders + splitters + vector stores + retrievers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3291840"/>
            <a:ext cx="11055096" cy="289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We pin the classic LangChain 0.3.x line — the last with </a:t>
            </a:r>
            <a:r>
              <a:rPr sz="1200" b="0" i="0">
                <a:solidFill>
                  <a:srgbClr val="6A6A6A"/>
                </a:solidFill>
                <a:latin typeface="Menlo"/>
              </a:rPr>
              <a:t>AgentExecutor</a:t>
            </a:r>
            <a:r>
              <a:rPr sz="1200" b="0" i="0">
                <a:solidFill>
                  <a:srgbClr val="6A6A6A"/>
                </a:solidFill>
                <a:latin typeface="Helvetica Neue"/>
              </a:rPr>
              <a:t>. LangGraph (the newer agent runtime) is the Week 3 reveal.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Structured output: function calling, aimed at the answer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17904"/>
            <a:ext cx="6199632" cy="2596896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bIns="73152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from pydantic import BaseModel, Field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from typing import Literal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class ClaimCheck(BaseModel):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    verdict: Literal["true", "false", "uncertain"]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    confidence: Literal["low", "medium", "high"]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    reason: str = Field(description="&lt;= 15 words")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checker = llm.with_structured_output(ClaimCheck)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result = checker.invoke("The transformer paper is from 2017. True?")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result.verdict      # -&gt; "true"  (a typed object, not a string)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77456" y="1517904"/>
            <a:ext cx="4544568" cy="1166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Point a schema at the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answer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instead of a tool, and the model fills it in. You get back a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validated Python object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no regex, no "please respond in JSON".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77456" y="2775712"/>
            <a:ext cx="4544568" cy="152806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18872" bIns="91440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SAME MACHINERY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It's the exact function-calling mechanism from the tool-calling agent. Reach for it whenever an agent's output feeds the next pipeline step and must have predictable fields.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77456" y="2775712"/>
            <a:ext cx="54864" cy="152806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4431792"/>
            <a:ext cx="4544568" cy="289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Run live in Notebook 01.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From demo to production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17904"/>
            <a:ext cx="5257800" cy="129692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18872" bIns="91440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REAL TOOLS — TAVILY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Our notebooks mock </a:t>
            </a:r>
            <a:r>
              <a:rPr sz="1400" b="0" i="0">
                <a:solidFill>
                  <a:srgbClr val="1A1A1A"/>
                </a:solidFill>
                <a:latin typeface="Menlo"/>
              </a:rPr>
              <a:t>web_search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 so they run offline. In production, drop in a hosted search built for agents — same tool interface, real results: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54864" cy="129692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942844"/>
            <a:ext cx="5257800" cy="615696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bIns="73152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search = TavilySearchResults(max_results=3)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agent  = create_react_agent(llm, [search], prompt)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668268"/>
            <a:ext cx="5257800" cy="289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Menlo"/>
              </a:rPr>
              <a:t>langchain_community.tools.tavily_search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4224" y="1517904"/>
            <a:ext cx="5257800" cy="129692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18872" bIns="91440"/>
          <a:lstStyle/>
          <a:p>
            <a:pPr algn="l"/>
            <a:r>
              <a:rPr sz="1050" b="1">
                <a:solidFill>
                  <a:srgbClr val="4A7D3F"/>
                </a:solidFill>
                <a:latin typeface="Helvetica Neue"/>
              </a:rPr>
              <a:t>OBSERVABILITY — LANGSMITH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Set two env vars and every agent run is traced step-by-step — each Thought, Action, tool latency, token count — with no code change: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64224" y="1517904"/>
            <a:ext cx="54864" cy="1296924"/>
          </a:xfrm>
          <a:prstGeom prst="rect">
            <a:avLst/>
          </a:prstGeom>
          <a:solidFill>
            <a:srgbClr val="4A7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64224" y="2942844"/>
            <a:ext cx="5257800" cy="615696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tIns="91440" bIns="73152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LANGCHAIN_TRACING_V2 = "true"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Menlo"/>
              </a:rPr>
              <a:t>LANGCHAIN_API_KEY    = "ls-..."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3668268"/>
            <a:ext cx="5257800" cy="638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You debug an agent by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watching the trace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, not guessing.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Hands-on: three notebooks, back to 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17904"/>
            <a:ext cx="5257800" cy="106578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18872" bIns="91440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NOTEBOOK 00 · LANGCHAIN IN 15 MIN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Model wrapper, messages, prompt templates, the LCEL pipe, first </a:t>
            </a:r>
            <a:r>
              <a:rPr sz="1400" b="0" i="0">
                <a:solidFill>
                  <a:srgbClr val="1A1A1A"/>
                </a:solidFill>
                <a:latin typeface="Menlo"/>
              </a:rPr>
              <a:t>@tool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54864" cy="106578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2711704"/>
            <a:ext cx="5257800" cy="106578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18872" bIns="91440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NOTEBOOK 01 · TOOL USE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The smallest agent, three ways: hand-rolled -&gt; native tool-use -&gt; LangChain tool-calling agent.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711704"/>
            <a:ext cx="54864" cy="106578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64224" y="1517904"/>
            <a:ext cx="5257800" cy="106578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18872" bIns="91440"/>
          <a:lstStyle/>
          <a:p>
            <a:pPr algn="l"/>
            <a:r>
              <a:rPr sz="1050" b="1">
                <a:solidFill>
                  <a:srgbClr val="4A7D3F"/>
                </a:solidFill>
                <a:latin typeface="Helvetica Neue"/>
              </a:rPr>
              <a:t>NOTEBOOK 02 · REACT, COT, TOT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CoT -&gt; hand-built ReAct loop -&gt; </a:t>
            </a:r>
            <a:r>
              <a:rPr sz="1400" b="0" i="0">
                <a:solidFill>
                  <a:srgbClr val="1A1A1A"/>
                </a:solidFill>
                <a:latin typeface="Menlo"/>
              </a:rPr>
              <a:t>create_react_agent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 -&gt; ToT -&gt; the function-calling-vs-ReAct contrast.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64224" y="1517904"/>
            <a:ext cx="54864" cy="1065784"/>
          </a:xfrm>
          <a:prstGeom prst="rect">
            <a:avLst/>
          </a:prstGeom>
          <a:solidFill>
            <a:srgbClr val="4A7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2711704"/>
            <a:ext cx="52578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Same model. Same loop you just saw on slides. Now you watch it run, step by step.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814064"/>
            <a:ext cx="6949440" cy="397510"/>
          </a:xfrm>
          <a:prstGeom prst="roundRect">
            <a:avLst>
              <a:gd name="adj" fmla="val 30000"/>
            </a:avLst>
          </a:prstGeom>
          <a:solidFill>
            <a:srgbClr val="E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0" tIns="0" bIns="0"/>
          <a:lstStyle/>
          <a:p>
            <a:pPr algn="l"/>
            <a:r>
              <a:rPr sz="1300" b="1">
                <a:solidFill>
                  <a:srgbClr val="2F6D2A"/>
                </a:solidFill>
                <a:latin typeface="Helvetica Neue"/>
              </a:rPr>
              <a:t>▶ Switch to Colab — Notebooks 00, 01, 02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31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1F4F8B"/>
                </a:solidFill>
                <a:latin typeface="Helvetica Neue"/>
              </a:rPr>
              <a:t>PART 4 ·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>
                <a:solidFill>
                  <a:srgbClr val="0A0A0A"/>
                </a:solidFill>
                <a:latin typeface="Helvetica Neue"/>
              </a:rPr>
              <a:t>RAG end-to-end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9476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 i="0">
                <a:solidFill>
                  <a:srgbClr val="555555"/>
                </a:solidFill>
                <a:latin typeface="Helvetica Neue"/>
              </a:rPr>
              <a:t>Retrieval-Augmented Generation gives the agent memory it can cite. Two parts — both visible — compared three ways.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RAG in one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2743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A6A6A"/>
                </a:solidFill>
                <a:latin typeface="Helvetica Neue"/>
              </a:rPr>
              <a:t>INDEX  (once)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92224"/>
            <a:ext cx="1991563" cy="56692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1F4F8B"/>
                </a:solidFill>
                <a:latin typeface="Helvetica Neue"/>
              </a:rPr>
              <a:t>PDFs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58491" y="2075688"/>
            <a:ext cx="274320" cy="0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32811" y="1792224"/>
            <a:ext cx="1991563" cy="56692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1F4F8B"/>
                </a:solidFill>
                <a:latin typeface="Helvetica Neue"/>
              </a:rPr>
              <a:t>text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24374" y="2075688"/>
            <a:ext cx="274320" cy="0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98694" y="1792224"/>
            <a:ext cx="1991563" cy="56692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1F4F8B"/>
                </a:solidFill>
                <a:latin typeface="Helvetica Neue"/>
              </a:rPr>
              <a:t>chunks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90257" y="2075688"/>
            <a:ext cx="274320" cy="0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64577" y="1792224"/>
            <a:ext cx="1991563" cy="56692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1F4F8B"/>
                </a:solidFill>
                <a:latin typeface="Helvetica Neue"/>
              </a:rPr>
              <a:t>embeddings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56140" y="2075688"/>
            <a:ext cx="274320" cy="0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30460" y="1792224"/>
            <a:ext cx="1991563" cy="56692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4A7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4A7D3F"/>
                </a:solidFill>
                <a:latin typeface="Helvetica Neue"/>
              </a:rPr>
              <a:t>vector 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523744"/>
            <a:ext cx="2743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A6A6A"/>
                </a:solidFill>
                <a:latin typeface="Helvetica Neue"/>
              </a:rPr>
              <a:t>QUERY  (every question)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798064"/>
            <a:ext cx="1613916" cy="56692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1F4F8B"/>
                </a:solidFill>
                <a:latin typeface="Helvetica Neue"/>
              </a:rPr>
              <a:t>question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80844" y="3081528"/>
            <a:ext cx="274319" cy="0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455164" y="2798064"/>
            <a:ext cx="1613916" cy="56692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1F4F8B"/>
                </a:solidFill>
                <a:latin typeface="Helvetica Neue"/>
              </a:rPr>
              <a:t>embed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69080" y="3081528"/>
            <a:ext cx="274320" cy="0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343400" y="2798064"/>
            <a:ext cx="1613916" cy="56692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4A7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4A7D3F"/>
                </a:solidFill>
                <a:latin typeface="Helvetica Neue"/>
              </a:rPr>
              <a:t>top-k chunks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57316" y="3081528"/>
            <a:ext cx="274320" cy="0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31636" y="2798064"/>
            <a:ext cx="1613916" cy="56692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1F4F8B"/>
                </a:solidFill>
                <a:latin typeface="Helvetica Neue"/>
              </a:rPr>
              <a:t>prompt + chunks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45552" y="3081528"/>
            <a:ext cx="274320" cy="0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19871" y="2798064"/>
            <a:ext cx="1613916" cy="56692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1F4F8B"/>
                </a:solidFill>
                <a:latin typeface="Helvetica Neue"/>
              </a:rPr>
              <a:t>LLM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733788" y="3081528"/>
            <a:ext cx="274320" cy="0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008107" y="2798064"/>
            <a:ext cx="1613916" cy="56692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C85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C8553D"/>
                </a:solidFill>
                <a:latin typeface="Helvetica Neue"/>
              </a:rPr>
              <a:t>answer + citations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3877056"/>
            <a:ext cx="11055096" cy="638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Two halves.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Retrieval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finds the relevant chunks (same embedding idea from Part 1).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Augmentation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stuffs them into the prompt. The model's job becomes "answer from this context, and cite it."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Build it with LangChain pieces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5257800" cy="373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Each pipeline stage is one LangChain class: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983232"/>
          <a:ext cx="5257800" cy="23042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28900"/>
                <a:gridCol w="262890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A0A0A"/>
                          </a:solidFill>
                          <a:latin typeface="Helvetica Neue"/>
                        </a:rPr>
                        <a:t>Stage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A0A0A"/>
                          </a:solidFill>
                          <a:latin typeface="Helvetica Neue"/>
                        </a:rPr>
                        <a:t>Class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Load PDFs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PyPDFLoader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Split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RecursiveCharacterTextSplitter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Embed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HuggingFaceEmbeddings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Store (dense)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FAISS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 · </a:t>
                      </a:r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Chroma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Store (sparse)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BM25Retriever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Fuse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Menlo"/>
                        </a:rPr>
                        <a:t>EnsembleRetriever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64224" y="1517904"/>
            <a:ext cx="5257800" cy="373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FAISS vs Chroma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both local, both </a:t>
            </a:r>
            <a:r>
              <a:rPr sz="1600" b="0" i="0">
                <a:solidFill>
                  <a:srgbClr val="1A1A1A"/>
                </a:solidFill>
                <a:latin typeface="Menlo"/>
              </a:rPr>
              <a:t>.as_retriever()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4224" y="1983232"/>
            <a:ext cx="5257800" cy="106578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18872" bIns="91440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FAISS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Fastest pure-vector index, lives in RAM. Great default.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64224" y="1983232"/>
            <a:ext cx="54864" cy="1065784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64224" y="3177032"/>
            <a:ext cx="5257800" cy="106578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18872" bIns="91440"/>
          <a:lstStyle/>
          <a:p>
            <a:pPr algn="l"/>
            <a:r>
              <a:rPr sz="1050" b="1">
                <a:solidFill>
                  <a:srgbClr val="4A7D3F"/>
                </a:solidFill>
                <a:latin typeface="Helvetica Neue"/>
              </a:rPr>
              <a:t>CHROMA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A small persistent local DB — write once, reopen later, no re-embedding.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64224" y="3177032"/>
            <a:ext cx="54864" cy="1065784"/>
          </a:xfrm>
          <a:prstGeom prst="rect">
            <a:avLst/>
          </a:prstGeom>
          <a:solidFill>
            <a:srgbClr val="4A7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4370832"/>
            <a:ext cx="52578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Same retriever interface — the rest of the pipeline doesn't care which you pick.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Three retrieval strategies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5257800" cy="373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Dense (FAISS / Chroma)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83232"/>
            <a:ext cx="5257800" cy="10759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Embed query + chunks, cosine similarity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Great for paraphrase &amp; synonyms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"What does X </a:t>
            </a:r>
            <a:r>
              <a:rPr sz="1600" b="0" i="1">
                <a:solidFill>
                  <a:srgbClr val="1A1A1A"/>
                </a:solidFill>
                <a:latin typeface="Helvetica Neue"/>
              </a:rPr>
              <a:t>mean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132328"/>
            <a:ext cx="5257800" cy="373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Sparse (BM25)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597656"/>
            <a:ext cx="5257800" cy="10759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Classical keyword scoring, no embeddings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Great for exact terms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"What about </a:t>
            </a:r>
            <a:r>
              <a:rPr sz="1600" b="0" i="1">
                <a:solidFill>
                  <a:srgbClr val="1A1A1A"/>
                </a:solidFill>
                <a:latin typeface="Helvetica Neue"/>
              </a:rPr>
              <a:t>RLAIF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1517904"/>
            <a:ext cx="5257800" cy="373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Hybrid (EnsembleRetriever)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1983232"/>
            <a:ext cx="5257800" cy="10759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Fuses both with Reciprocal Rank Fusion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Catches paraphrase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and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exact-term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Usually wins on section-level hit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4224" y="3132328"/>
            <a:ext cx="5257800" cy="106578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18872" bIns="91440"/>
          <a:lstStyle/>
          <a:p>
            <a:pPr algn="l"/>
            <a:r>
              <a:rPr sz="1050" b="1">
                <a:solidFill>
                  <a:srgbClr val="4A7D3F"/>
                </a:solidFill>
                <a:latin typeface="Helvetica Neue"/>
              </a:rPr>
              <a:t>NOTEBOOK 04 APPENDIX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The same recipe on real Elasticsearch with native RRF — production substrate, same idea.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64224" y="3132328"/>
            <a:ext cx="54864" cy="1065784"/>
          </a:xfrm>
          <a:prstGeom prst="rect">
            <a:avLst/>
          </a:prstGeom>
          <a:solidFill>
            <a:srgbClr val="4A7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The dirty secret of RAG: chunking dominates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5257800" cy="373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Fixed-window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split every N chars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83232"/>
            <a:ext cx="5257800" cy="419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Fast; breaks sentences mid-thought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75992"/>
            <a:ext cx="5257800" cy="373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Recursive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paragraph -&gt; sentence -&gt; word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941320"/>
            <a:ext cx="5257800" cy="747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Respects boundaries; LangChain default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Better for dense </a:t>
            </a:r>
            <a:r>
              <a:rPr sz="1600" b="0" i="1">
                <a:solidFill>
                  <a:srgbClr val="1A1A1A"/>
                </a:solidFill>
                <a:latin typeface="Helvetica Neue"/>
              </a:rPr>
              <a:t>and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sparse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762248"/>
            <a:ext cx="5257800" cy="373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Semantic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split on embedding-distance jumps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27576"/>
            <a:ext cx="5257800" cy="683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Slowest, sometimes best for narrative; we mention, don't build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4224" y="1517904"/>
            <a:ext cx="5257800" cy="1582928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18872" bIns="91440"/>
          <a:lstStyle/>
          <a:p>
            <a:pPr algn="l"/>
            <a:r>
              <a:rPr sz="1050" b="1">
                <a:solidFill>
                  <a:srgbClr val="1F4F8B"/>
                </a:solidFill>
                <a:latin typeface="Helvetica Neue"/>
              </a:rPr>
              <a:t>NOTEBOOK 03 · CHUNK + OVERLAP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137 pages -&gt; </a:t>
            </a:r>
            <a:r>
              <a:rPr sz="1400" b="1" i="0">
                <a:solidFill>
                  <a:srgbClr val="1A1A1A"/>
                </a:solidFill>
                <a:latin typeface="Helvetica Neue"/>
              </a:rPr>
              <a:t>676 chunks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 at 800 chars / 100 overlap.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Chunk size and overlap usually move retrieval quality </a:t>
            </a:r>
            <a:r>
              <a:rPr sz="1400" b="0" i="1">
                <a:solidFill>
                  <a:srgbClr val="1A1A1A"/>
                </a:solidFill>
                <a:latin typeface="Helvetica Neue"/>
              </a:rPr>
              <a:t>more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 than the choice of embedding model. Sweep them on your own corpus.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64224" y="1517904"/>
            <a:ext cx="54864" cy="1582928"/>
          </a:xfrm>
          <a:prstGeom prst="rect">
            <a:avLst/>
          </a:prstGeom>
          <a:solidFill>
            <a:srgbClr val="1F4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3228848"/>
            <a:ext cx="5257800" cy="638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For the workshop we use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recursive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the cheapest win.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Comparison: hit@5 on five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5257800" cy="638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Test set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5 questions, each labelled with its ground-truth paper + section keywords. Two metrics: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47392"/>
            <a:ext cx="5257800" cy="747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paper-hit@5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right </a:t>
            </a:r>
            <a:r>
              <a:rPr sz="1600" b="0" i="1">
                <a:solidFill>
                  <a:srgbClr val="1A1A1A"/>
                </a:solidFill>
                <a:latin typeface="Helvetica Neue"/>
              </a:rPr>
              <a:t>paper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in the top 5?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section-hit@5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right </a:t>
            </a:r>
            <a:r>
              <a:rPr sz="1600" b="0" i="1">
                <a:solidFill>
                  <a:srgbClr val="1A1A1A"/>
                </a:solidFill>
                <a:latin typeface="Helvetica Neue"/>
              </a:rPr>
              <a:t>part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of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068320"/>
            <a:ext cx="5257800" cy="373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The first is easy; the second is honest.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4224" y="1517904"/>
            <a:ext cx="5257800" cy="373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Notebook 03 run (5-paper corpus):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64224" y="1983232"/>
          <a:ext cx="5257800" cy="13167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</a:tblGrid>
              <a:tr h="329184">
                <a:tc>
                  <a:txBody>
                    <a:bodyPr/>
                    <a:lstStyle/>
                    <a:p/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A0A0A"/>
                          </a:solidFill>
                          <a:latin typeface="Helvetica Neue"/>
                        </a:rPr>
                        <a:t>paper-hit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A0A0A"/>
                          </a:solidFill>
                          <a:latin typeface="Helvetica Neue"/>
                        </a:rPr>
                        <a:t>section-hit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Dense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5/5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5/5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BM25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5/5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5/5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Hybrid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5/5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A1A1A"/>
                          </a:solidFill>
                          <a:latin typeface="Helvetica Neue"/>
                        </a:rPr>
                        <a:t>5/5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364224" y="3427984"/>
            <a:ext cx="5257800" cy="902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On a small, clean corpus all three nail it. On a big messy one, hybrid pulls ahead — it catches both query types.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RAG vs raw LLM — same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17904"/>
            <a:ext cx="5257800" cy="1351788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18872" bIns="91440"/>
          <a:lstStyle/>
          <a:p>
            <a:pPr algn="l"/>
            <a:r>
              <a:rPr sz="1050" b="1">
                <a:solidFill>
                  <a:srgbClr val="C8553D"/>
                </a:solidFill>
                <a:latin typeface="Helvetica Neue"/>
              </a:rPr>
              <a:t>RAW LLM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"The ReAct loop interleaves reasoning and action..."</a:t>
            </a:r>
          </a:p>
          <a:p>
            <a:pPr algn="l">
              <a:spcBef>
                <a:spcPts val="400"/>
              </a:spcBef>
            </a:pPr>
            <a:r>
              <a:rPr sz="1400" b="0" i="1">
                <a:solidFill>
                  <a:srgbClr val="1A1A1A"/>
                </a:solidFill>
                <a:latin typeface="Helvetica Neue"/>
              </a:rPr>
              <a:t>No citation. Possibly wrong on specifics. Sounds confident either way.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54864" cy="1351788"/>
          </a:xfrm>
          <a:prstGeom prst="rect">
            <a:avLst/>
          </a:prstGeom>
          <a:solidFill>
            <a:srgbClr val="C85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64224" y="1517904"/>
            <a:ext cx="5257800" cy="1351788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18872" bIns="91440"/>
          <a:lstStyle/>
          <a:p>
            <a:pPr algn="l"/>
            <a:r>
              <a:rPr sz="1050" b="1">
                <a:solidFill>
                  <a:srgbClr val="4A7D3F"/>
                </a:solidFill>
                <a:latin typeface="Helvetica Neue"/>
              </a:rPr>
              <a:t>RAG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"...interleaving reasoning, action and observation improves groundedness </a:t>
            </a:r>
            <a:r>
              <a:rPr sz="1400" b="1" i="0">
                <a:solidFill>
                  <a:srgbClr val="1A1A1A"/>
                </a:solidFill>
                <a:latin typeface="Helvetica Neue"/>
              </a:rPr>
              <a:t>[react_yao_2022.pdf#540]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."</a:t>
            </a:r>
          </a:p>
          <a:p>
            <a:pPr algn="l">
              <a:spcBef>
                <a:spcPts val="400"/>
              </a:spcBef>
            </a:pPr>
            <a:r>
              <a:rPr sz="1400" b="0" i="1">
                <a:solidFill>
                  <a:srgbClr val="1A1A1A"/>
                </a:solidFill>
                <a:latin typeface="Helvetica Neue"/>
              </a:rPr>
              <a:t>Every claim points to a chunk you can re-read.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64224" y="1517904"/>
            <a:ext cx="54864" cy="1351788"/>
          </a:xfrm>
          <a:prstGeom prst="rect">
            <a:avLst/>
          </a:prstGeom>
          <a:solidFill>
            <a:srgbClr val="4A7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997708"/>
            <a:ext cx="11055096" cy="638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elvetica Neue"/>
              </a:rPr>
              <a:t>Citations are the killer feature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not prompt-engineering magic, just retrieval plus telling the model to cite its source.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727195"/>
            <a:ext cx="6949440" cy="612140"/>
          </a:xfrm>
          <a:prstGeom prst="roundRect">
            <a:avLst>
              <a:gd name="adj" fmla="val 30000"/>
            </a:avLst>
          </a:prstGeom>
          <a:solidFill>
            <a:srgbClr val="EA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0" tIns="0" bIns="0"/>
          <a:lstStyle/>
          <a:p>
            <a:pPr algn="l"/>
            <a:r>
              <a:rPr sz="1300" b="1">
                <a:solidFill>
                  <a:srgbClr val="2F6D2A"/>
                </a:solidFill>
                <a:latin typeface="Helvetica Neue"/>
              </a:rPr>
              <a:t>▶ Switch to Colab — Notebook 03 (run the comparison, then ask a grounded question)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31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1F4F8B"/>
                </a:solidFill>
                <a:latin typeface="Helvetica Neue"/>
              </a:rPr>
              <a:t>PART 5 · 10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>
                <a:solidFill>
                  <a:srgbClr val="0A0A0A"/>
                </a:solidFill>
                <a:latin typeface="Helvetica Neue"/>
              </a:rPr>
              <a:t>What's next —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9476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 i="0">
                <a:solidFill>
                  <a:srgbClr val="555555"/>
                </a:solidFill>
                <a:latin typeface="Helvetica Neue"/>
              </a:rPr>
              <a:t>A single ReAct + RAG agent covers a lot. Specialisation is the honest reason to reach for more than one.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Limits of the single-agent pattern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517904"/>
          <a:ext cx="11055096" cy="164591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85032"/>
                <a:gridCol w="3685032"/>
                <a:gridCol w="3685032"/>
              </a:tblGrid>
              <a:tr h="329183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A0A0A"/>
                          </a:solidFill>
                          <a:latin typeface="Helvetica Neue"/>
                        </a:rPr>
                        <a:t>Limit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A0A0A"/>
                          </a:solidFill>
                          <a:latin typeface="Helvetica Neue"/>
                        </a:rPr>
                        <a:t>Symptom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A0A0A"/>
                          </a:solidFill>
                          <a:latin typeface="Helvetica Neue"/>
                        </a:rPr>
                        <a:t>Fix in W3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Context overflow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Long reasoning traces exhaust the window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Hand subtasks to specialists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No specialisation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One prompt does everything, none of it well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Planner / Retriever / Writer split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Sequential bottleneck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Parallel-decomposable work runs serially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Graph orchestration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Hard to evaluate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Can't isolate which step failed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Helvetica Neue"/>
                        </a:rPr>
                        <a:t>Per-node metrics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3291840"/>
            <a:ext cx="11055096" cy="289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A6A6A"/>
                </a:solidFill>
                <a:latin typeface="Helvetica Neue"/>
              </a:rPr>
              <a:t>These are the </a:t>
            </a:r>
            <a:r>
              <a:rPr sz="1200" b="1" i="0">
                <a:solidFill>
                  <a:srgbClr val="6A6A6A"/>
                </a:solidFill>
                <a:latin typeface="Helvetica Neue"/>
              </a:rPr>
              <a:t>L3</a:t>
            </a:r>
            <a:r>
              <a:rPr sz="1200" b="0" i="0">
                <a:solidFill>
                  <a:srgbClr val="6A6A6A"/>
                </a:solidFill>
                <a:latin typeface="Helvetica Neue"/>
              </a:rPr>
              <a:t> rung — multi-agent systems — that we deliberately left off the ladder today.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Today's retriever becomes a W3 tool node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66543"/>
            <a:ext cx="1554480" cy="548640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1F4F8B"/>
                </a:solidFill>
                <a:latin typeface="Helvetica Neue"/>
              </a:rPr>
              <a:t>user 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70048" y="1517904"/>
            <a:ext cx="8951976" cy="18288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2928" y="1627631"/>
            <a:ext cx="8586215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4F8B"/>
                </a:solidFill>
                <a:latin typeface="Helvetica Neue"/>
              </a:rPr>
              <a:t>LangGraph orchestrator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21408" y="2340863"/>
            <a:ext cx="548640" cy="0"/>
          </a:xfrm>
          <a:prstGeom prst="line">
            <a:avLst/>
          </a:prstGeom>
          <a:ln w="19050">
            <a:solidFill>
              <a:srgbClr val="1F4F8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035808" y="2176272"/>
            <a:ext cx="2194560" cy="56692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4A7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4A7D3F"/>
                </a:solidFill>
                <a:latin typeface="Helvetica Neue"/>
              </a:rPr>
              <a:t>Planner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48755" y="2176272"/>
            <a:ext cx="2194560" cy="56692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1F4F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1F4F8B"/>
                </a:solidFill>
                <a:latin typeface="Helvetica Neue"/>
              </a:rPr>
              <a:t>Retriever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61703" y="2176272"/>
            <a:ext cx="2194560" cy="56692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15875">
            <a:solidFill>
              <a:srgbClr val="C855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C8553D"/>
                </a:solidFill>
                <a:latin typeface="Helvetica Neue"/>
              </a:rPr>
              <a:t>Writer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30368" y="2459736"/>
            <a:ext cx="818387" cy="0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43315" y="2459736"/>
            <a:ext cx="818388" cy="0"/>
          </a:xfrm>
          <a:prstGeom prst="line">
            <a:avLst/>
          </a:prstGeom>
          <a:ln w="19050">
            <a:solidFill>
              <a:srgbClr val="6A6A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74436" y="2889504"/>
            <a:ext cx="2743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A6A6A"/>
                </a:solidFill>
                <a:latin typeface="Helvetica Neue"/>
              </a:rPr>
              <a:t>hybrid_retriever()  —  straight from Notebook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602736"/>
            <a:ext cx="11055096" cy="638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The retrieval </a:t>
            </a:r>
            <a:r>
              <a:rPr sz="1600" b="0" i="1">
                <a:solidFill>
                  <a:srgbClr val="1A1A1A"/>
                </a:solidFill>
                <a:latin typeface="Helvetica Neue"/>
              </a:rPr>
              <a:t>function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doesn't change — the orchestrator around it does. Same with your ReAct loop: it becomes a node in a graph.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What to read before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5096" cy="14041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LangGraph quickstart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</a:t>
            </a:r>
            <a:r>
              <a:rPr sz="1600" b="0" i="0">
                <a:solidFill>
                  <a:srgbClr val="1A1A1A"/>
                </a:solidFill>
                <a:latin typeface="Menlo"/>
              </a:rPr>
              <a:t>langchain-ai/langgraph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repo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Anthropic's "Building effective agents"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the workflows-vs-agents section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GPT-Researcher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a production multi-agent deep-research pattern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Your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Notebook 02 ReAct trace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bring it back; we'll convert it to a graph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31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1F4F8B"/>
                </a:solidFill>
                <a:latin typeface="Helvetica Neue"/>
              </a:rPr>
              <a:t>WRAP-UP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>
                <a:solidFill>
                  <a:srgbClr val="0A0A0A"/>
                </a:solidFill>
                <a:latin typeface="Helvetica Neue"/>
              </a:rPr>
              <a:t>Take it 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9476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 i="0">
                <a:solidFill>
                  <a:srgbClr val="555555"/>
                </a:solidFill>
                <a:latin typeface="Helvetica Neue"/>
              </a:rPr>
              <a:t>Five notebooks, one mental model: the loop is the agent.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What you take 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11055096" cy="1732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Notebook 00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LangChain in 15 minutes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Notebook 01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tool use, three ways (hand-rolled -&gt; native -&gt; tool-calling agent)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Notebook 02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CoT, ReAct from scratch &amp; via </a:t>
            </a:r>
            <a:r>
              <a:rPr sz="1600" b="0" i="0">
                <a:solidFill>
                  <a:srgbClr val="1A1A1A"/>
                </a:solidFill>
                <a:latin typeface="Menlo"/>
              </a:rPr>
              <a:t>create_react_agent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, ToT, FC-vs-ReAct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Notebook 03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full RAG with FAISS + Chroma + hybrid retrieval</a:t>
            </a:r>
          </a:p>
          <a:p>
            <a:pPr marL="274320" indent="-274320">
              <a:spcAft>
                <a:spcPts val="500"/>
              </a:spcAft>
            </a:pPr>
            <a:r>
              <a:rPr sz="1600">
                <a:solidFill>
                  <a:srgbClr val="6A6A6A"/>
                </a:solidFill>
                <a:latin typeface="Helvetica Neue"/>
              </a:rPr>
              <a:t>▪ 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Notebook 04</a:t>
            </a:r>
            <a:r>
              <a:rPr sz="1600" b="0" i="0">
                <a:solidFill>
                  <a:srgbClr val="1A1A1A"/>
                </a:solidFill>
                <a:latin typeface="Helvetica Neue"/>
              </a:rPr>
              <a:t> — optional Elasticsearch 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323335"/>
            <a:ext cx="11055096" cy="373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Helvetica Neue"/>
              </a:rPr>
              <a:t>All open in Colab from </a:t>
            </a:r>
            <a:r>
              <a:rPr sz="1600" b="1" i="0">
                <a:solidFill>
                  <a:srgbClr val="1A1A1A"/>
                </a:solidFill>
                <a:latin typeface="Helvetica Neue"/>
              </a:rPr>
              <a:t>github.com/krmdel/agentic-ai-for-scientists-workshop/week-02-patterns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36422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>
                <a:solidFill>
                  <a:srgbClr val="6A6A6A"/>
                </a:solidFill>
                <a:latin typeface="Helvetica Neue"/>
              </a:rPr>
              <a:t>03/06/2026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364224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>
                <a:solidFill>
                  <a:srgbClr val="6A6A6A"/>
                </a:solidFill>
                <a:latin typeface="Helvetica Neue"/>
              </a:rPr>
              <a:t>kerem.delikoyun@tum-create.edu.sg   |   Agentic AI Workshop W2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6422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>
                <a:solidFill>
                  <a:srgbClr val="6A6A6A"/>
                </a:solidFill>
                <a:latin typeface="Helvetica Neue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1323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>
                <a:solidFill>
                  <a:srgbClr val="0A0A0A"/>
                </a:solidFill>
                <a:latin typeface="Helvetica Neue"/>
              </a:rPr>
              <a:t>One sentence to remember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17904"/>
            <a:ext cx="11055096" cy="1065784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64592" tIns="118872" bIns="91440"/>
          <a:lstStyle/>
          <a:p>
            <a:pPr algn="l"/>
            <a:r>
              <a:rPr sz="1050" b="1">
                <a:solidFill>
                  <a:srgbClr val="4A7D3F"/>
                </a:solidFill>
                <a:latin typeface="Helvetica Neue"/>
              </a:rPr>
              <a:t>THE WEEK 2 TAKEAWAY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1A1A1A"/>
                </a:solidFill>
                <a:latin typeface="Helvetica Neue"/>
              </a:rPr>
              <a:t>A language model predicts the next token. An </a:t>
            </a:r>
            <a:r>
              <a:rPr sz="1400" b="1" i="0">
                <a:solidFill>
                  <a:srgbClr val="1A1A1A"/>
                </a:solidFill>
                <a:latin typeface="Helvetica Neue"/>
              </a:rPr>
              <a:t>agent</a:t>
            </a:r>
            <a:r>
              <a:rPr sz="1400" b="0" i="0">
                <a:solidFill>
                  <a:srgbClr val="1A1A1A"/>
                </a:solidFill>
                <a:latin typeface="Helvetica Neue"/>
              </a:rPr>
              <a:t> is the loop you wrap around it — tools give it hands, reasoning gives it a scratchpad, RAG gives it memory it can cite. Frameworks add ergonomics; they don't add the agency.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17904"/>
            <a:ext cx="54864" cy="1065784"/>
          </a:xfrm>
          <a:prstGeom prst="rect">
            <a:avLst/>
          </a:prstGeom>
          <a:solidFill>
            <a:srgbClr val="4A7D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umcre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329184"/>
            <a:ext cx="1828800" cy="2203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14884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600" b="1">
                <a:solidFill>
                  <a:srgbClr val="0A0A0A"/>
                </a:solidFill>
                <a:latin typeface="Helvetica Neue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611880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0" i="0">
                <a:solidFill>
                  <a:srgbClr val="444444"/>
                </a:solidFill>
                <a:latin typeface="Helvetica Neue"/>
              </a:rPr>
              <a:t>Kerem Delikoyun  ·  TUMCREATE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0916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Helvetica Neue"/>
              </a:rPr>
              <a:t>kerem.delikoyun@tum-create.edu.sg  ·  github.com/krmdel/agentic-ai-for-scientists-workshop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