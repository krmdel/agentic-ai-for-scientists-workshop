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69"/>
    <p:restoredTop sz="94649"/>
  </p:normalViewPr>
  <p:slideViewPr>
    <p:cSldViewPr snapToGrid="0" snapToObjects="1">
      <p:cViewPr varScale="1">
        <p:scale>
          <a:sx n="182" d="100"/>
          <a:sy n="182" d="100"/>
        </p:scale>
        <p:origin x="26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krmdel/Transformer-From-Scratch/blob/main/transformer_whiteboard_explanation.pn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nytimes.com/2024/06/19/science/brain-language-thought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gif"/><Relationship Id="rId4" Type="http://schemas.openxmlformats.org/officeDocument/2006/relationships/hyperlink" Target="https://medium.datadriveninvestor.com/3-prompting-techniques-for-reasoning-in-llms-ff1b7c62413c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gif"/><Relationship Id="rId4" Type="http://schemas.openxmlformats.org/officeDocument/2006/relationships/hyperlink" Target="https://medium.datadriveninvestor.com/3-prompting-techniques-for-reasoning-in-llms-ff1b7c62413c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olab.research.google.com/github/krmdel/agentic-ai-for-scientists-workshop/blob/main/week-02-patterns/notebooks/00_langchain_intro.ipynb" TargetMode="External"/><Relationship Id="rId4" Type="http://schemas.openxmlformats.org/officeDocument/2006/relationships/hyperlink" Target="https://colab.research.google.com/github/krmdel/agentic-ai-for-scientists-workshop/blob/main/week-02-patterns/notebooks/01_tool_use.ipynb" TargetMode="External"/><Relationship Id="rId5" Type="http://schemas.openxmlformats.org/officeDocument/2006/relationships/hyperlink" Target="https://colab.research.google.com/github/krmdel/agentic-ai-for-scientists-workshop/blob/main/week-02-patterns/notebooks/02_react_agent.ipynb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olab.research.google.com/github/krmdel/agentic-ai-for-scientists-workshop/blob/main/week-02-patterns/notebooks/03_rag_pipeline.ipynb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github.com/krmdel/agentic-ai-for-scientists-workshop/week-02-patterns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48840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600" b="1">
                <a:solidFill>
                  <a:srgbClr val="0A0A0A"/>
                </a:solidFill>
                <a:latin typeface="Helvetica Neue"/>
              </a:rPr>
              <a:t>Agentic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>
                <a:solidFill>
                  <a:srgbClr val="444444"/>
                </a:solidFill>
                <a:latin typeface="Helvetica Neue"/>
              </a:rPr>
              <a:t>Week 2 — From LLMs to Agents: why language models work, and the ladder that turns one into an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916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Helvetica Neue"/>
              </a:rPr>
              <a:t>Dr. Kerem Delikoyun  ·  TUMCREATE  ·  3 June 2026</a:t>
            </a:r>
          </a:p>
        </p:txBody>
      </p:sp>
      <p:pic>
        <p:nvPicPr>
          <p:cNvPr id="6" name="Picture 5" descr="tumcreate-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4791589"/>
            <a:ext cx="2926080" cy="2066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1F4F8B"/>
                </a:solidFill>
                <a:latin typeface="Helvetica Neue"/>
              </a:rPr>
              <a:t>RECAP · 5 MIN</a:t>
            </a:r>
            <a:endParaRPr sz="1300" b="1" dirty="0">
              <a:solidFill>
                <a:srgbClr val="1F4F8B"/>
              </a:solidFill>
              <a:latin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Where we left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 dirty="0">
                <a:solidFill>
                  <a:srgbClr val="555555"/>
                </a:solidFill>
                <a:latin typeface="Helvetica Neue"/>
              </a:rPr>
              <a:t>Last week: 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a brief history of computers and human-machine interaction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, 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AI coding agents 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and Organon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 for scientific discovery and workflows</a:t>
            </a:r>
          </a:p>
          <a:p>
            <a:endParaRPr lang="en-US" dirty="0">
              <a:solidFill>
                <a:srgbClr val="555555"/>
              </a:solidFill>
              <a:latin typeface="Helvetica Neue"/>
            </a:endParaRPr>
          </a:p>
          <a:p>
            <a:r>
              <a:rPr sz="1800" b="0" i="0" dirty="0">
                <a:solidFill>
                  <a:srgbClr val="555555"/>
                </a:solidFill>
                <a:latin typeface="Helvetica Neue"/>
              </a:rPr>
              <a:t>Today we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’ll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 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look under the hood….</a:t>
            </a:r>
            <a:endParaRPr sz="1800" b="0" i="0" dirty="0">
              <a:solidFill>
                <a:srgbClr val="555555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Week 1 recap, in one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55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What Week 1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46655"/>
            <a:ext cx="5257800" cy="298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Foundations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two long paths (a 200-yr abstraction staircase + an 80-yr AI road) converge at natural language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Claude Code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CLI-native coding agent + its primitives: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CLAUDE.md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tools, skills, sub-agents, MCP, hooks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Organon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an agentic OS for scientists; memory, identity &amp; skills as files on disk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The equation: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agent = LLM + primitives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(memory, identity, tools, learnings)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1517904"/>
            <a:ext cx="5257800" cy="355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Where Week 2 goes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946655"/>
            <a:ext cx="5257800" cy="117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 b="1" dirty="0">
                <a:solidFill>
                  <a:srgbClr val="1F4F8B"/>
                </a:solidFill>
                <a:latin typeface="Helvetica Neue"/>
              </a:rPr>
              <a:t>1.  </a:t>
            </a:r>
            <a:r>
              <a:rPr sz="1600" b="0" i="1" dirty="0">
                <a:solidFill>
                  <a:srgbClr val="1A1A1A"/>
                </a:solidFill>
                <a:latin typeface="Helvetica Neue"/>
              </a:rPr>
              <a:t>Open the box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why</a:t>
            </a:r>
            <a:r>
              <a:rPr lang="en-US" sz="1600" dirty="0">
                <a:solidFill>
                  <a:srgbClr val="1A1A1A"/>
                </a:solidFill>
                <a:latin typeface="Helvetica Neue"/>
              </a:rPr>
              <a:t> and how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LLMs work</a:t>
            </a:r>
          </a:p>
          <a:p>
            <a:pPr marL="274320" indent="-274320">
              <a:spcAft>
                <a:spcPts val="500"/>
              </a:spcAft>
            </a:pPr>
            <a:r>
              <a:rPr sz="1600" b="1" dirty="0">
                <a:solidFill>
                  <a:srgbClr val="1F4F8B"/>
                </a:solidFill>
                <a:latin typeface="Helvetica Neue"/>
              </a:rPr>
              <a:t>2.  </a:t>
            </a:r>
            <a:r>
              <a:rPr sz="1600" b="0" i="1" dirty="0">
                <a:solidFill>
                  <a:srgbClr val="1A1A1A"/>
                </a:solidFill>
                <a:latin typeface="Helvetica Neue"/>
              </a:rPr>
              <a:t>Climb the ladder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bare model -&gt; tools -&gt; reasoning</a:t>
            </a:r>
          </a:p>
          <a:p>
            <a:pPr marL="274320" indent="-274320">
              <a:spcAft>
                <a:spcPts val="500"/>
              </a:spcAft>
            </a:pPr>
            <a:r>
              <a:rPr sz="1600" b="1" dirty="0">
                <a:solidFill>
                  <a:srgbClr val="1F4F8B"/>
                </a:solidFill>
                <a:latin typeface="Helvetica Neue"/>
              </a:rPr>
              <a:t>3.  </a:t>
            </a:r>
            <a:r>
              <a:rPr sz="1600" b="0" i="1" dirty="0">
                <a:solidFill>
                  <a:srgbClr val="1A1A1A"/>
                </a:solidFill>
                <a:latin typeface="Helvetica Neue"/>
              </a:rPr>
              <a:t>Pick up a framework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</a:t>
            </a:r>
            <a:r>
              <a:rPr sz="1600" b="0" i="0" dirty="0" err="1">
                <a:solidFill>
                  <a:srgbClr val="1A1A1A"/>
                </a:solidFill>
                <a:latin typeface="Helvetica Neue"/>
              </a:rPr>
              <a:t>LangChain</a:t>
            </a:r>
            <a:endParaRPr sz="1600" b="0" i="0" dirty="0">
              <a:solidFill>
                <a:srgbClr val="1A1A1A"/>
              </a:solidFill>
              <a:latin typeface="Helvetica Neue"/>
            </a:endParaRPr>
          </a:p>
          <a:p>
            <a:pPr marL="274320" indent="-274320">
              <a:spcAft>
                <a:spcPts val="500"/>
              </a:spcAft>
            </a:pPr>
            <a:r>
              <a:rPr sz="1600" b="1" dirty="0">
                <a:solidFill>
                  <a:srgbClr val="1F4F8B"/>
                </a:solidFill>
                <a:latin typeface="Helvetica Neue"/>
              </a:rPr>
              <a:t>4.  </a:t>
            </a:r>
            <a:r>
              <a:rPr sz="1600" b="0" i="1" dirty="0">
                <a:solidFill>
                  <a:srgbClr val="1A1A1A"/>
                </a:solidFill>
                <a:latin typeface="Helvetica Neue"/>
              </a:rPr>
              <a:t>Give it memory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623560"/>
            <a:ext cx="11055096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Five Colab notebooks back every idea on the right. You'll run them as we 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dirty="0">
                <a:solidFill>
                  <a:srgbClr val="1F4F8B"/>
                </a:solidFill>
                <a:latin typeface="Helvetica Neue"/>
              </a:rPr>
              <a:t>PART 1 · WHY</a:t>
            </a:r>
            <a:r>
              <a:rPr lang="en-US" sz="1300" b="1" dirty="0">
                <a:solidFill>
                  <a:srgbClr val="1F4F8B"/>
                </a:solidFill>
                <a:latin typeface="Helvetica Neue"/>
              </a:rPr>
              <a:t> AND HOW</a:t>
            </a:r>
            <a:r>
              <a:rPr sz="1300" b="1" dirty="0">
                <a:solidFill>
                  <a:srgbClr val="1F4F8B"/>
                </a:solidFill>
                <a:latin typeface="Helvetica Neue"/>
              </a:rPr>
              <a:t> LLMS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dirty="0">
                <a:solidFill>
                  <a:srgbClr val="0A0A0A"/>
                </a:solidFill>
                <a:latin typeface="Helvetica Neue"/>
              </a:rPr>
              <a:t>Opening the </a:t>
            </a:r>
            <a:r>
              <a:rPr lang="en-US" sz="4000" b="1" dirty="0">
                <a:solidFill>
                  <a:srgbClr val="0A0A0A"/>
                </a:solidFill>
                <a:latin typeface="Helvetica Neue"/>
              </a:rPr>
              <a:t>Pandora’s </a:t>
            </a:r>
            <a:r>
              <a:rPr sz="4000" b="1" dirty="0">
                <a:solidFill>
                  <a:srgbClr val="0A0A0A"/>
                </a:solidFill>
                <a:latin typeface="Helvetica Neue"/>
              </a:rPr>
              <a:t>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7" y="3794760"/>
            <a:ext cx="1071299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W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hat a language model actually is — so 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it’s not “magic” and 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"agent" isn’t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 the rabbit inside the 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hat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51EA07-E7D5-0727-4C39-56A221001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460" y="3570178"/>
            <a:ext cx="274320" cy="497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dirty="0">
                <a:solidFill>
                  <a:srgbClr val="0A0A0A"/>
                </a:solidFill>
                <a:latin typeface="Helvetica Neue"/>
              </a:rPr>
              <a:t>The unlock: one architecture, three exponentials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52907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Helvetica Neue"/>
              </a:rPr>
              <a:t>For 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long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years, 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modeling the human 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language was hand-built rules and narrow 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methodologies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. Three things changed at once: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5257800" cy="1851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 dirty="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Architecture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the Transformer (2017): attention replaces recurrence, so training parallelizes across a whole sequence</a:t>
            </a:r>
          </a:p>
          <a:p>
            <a:pPr marL="274320" indent="-274320">
              <a:spcAft>
                <a:spcPts val="500"/>
              </a:spcAft>
            </a:pPr>
            <a:r>
              <a:rPr sz="1600" dirty="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Scale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parameters from millions -&gt; hundreds of billions</a:t>
            </a:r>
          </a:p>
          <a:p>
            <a:pPr marL="274320" indent="-274320">
              <a:spcAft>
                <a:spcPts val="500"/>
              </a:spcAft>
            </a:pPr>
            <a:r>
              <a:rPr sz="1600" dirty="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Data + compute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train on 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GW scale datacenters with entire 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web</a:t>
            </a:r>
            <a:r>
              <a:rPr lang="en-US" sz="1600" dirty="0">
                <a:solidFill>
                  <a:srgbClr val="1A1A1A"/>
                </a:solidFill>
                <a:latin typeface="Helvetica Neue"/>
              </a:rPr>
              <a:t> and proprietary dataset</a:t>
            </a:r>
            <a:endParaRPr sz="1600" b="0" i="0" dirty="0">
              <a:solidFill>
                <a:srgbClr val="1A1A1A"/>
              </a:solidFill>
              <a:latin typeface="Helvetica Neue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64224" y="1517904"/>
            <a:ext cx="5257800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BITTER LESSON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General methods that scale with compute beat clever hand-crafted ones. The Transformer was the first language architecture that kept getting better the more data and compute you fed it — no plateau in sight.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3173984"/>
            <a:ext cx="525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"Attention Is All You Need", Vaswani et al. 2017 — one of the five papers in today's RAG corpus.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Under the hood: the Transformer (2017)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Helvetica Neue"/>
              </a:rPr>
              <a:t>Every modern LLM is built from this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 architecture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. Two stacks of identical blocks; each block is just three ideas: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6199632" cy="1604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Multi-Head Attention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every token weighs what's relevant in all the others (the engine from the last slide)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Feed-Forward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 small per-token network on top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Add &amp; Norm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residuals + normalisation that keep deep stacks trainable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24808"/>
            <a:ext cx="619963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A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dd embeddings + positional encoding </a:t>
            </a:r>
            <a:r>
              <a:rPr lang="en-US" sz="1600" dirty="0">
                <a:solidFill>
                  <a:srgbClr val="1A1A1A"/>
                </a:solidFill>
                <a:latin typeface="Helvetica Neue"/>
              </a:rPr>
              <a:t>and stack it </a:t>
            </a:r>
            <a:r>
              <a:rPr lang="en-US" sz="1600" b="1" dirty="0">
                <a:solidFill>
                  <a:srgbClr val="1A1A1A"/>
                </a:solidFill>
                <a:latin typeface="Helvetica Neue"/>
              </a:rPr>
              <a:t>N×.</a:t>
            </a:r>
          </a:p>
          <a:p>
            <a:r>
              <a:rPr lang="en-US" sz="1600" i="0" dirty="0">
                <a:solidFill>
                  <a:srgbClr val="1A1A1A"/>
                </a:solidFill>
                <a:latin typeface="Helvetica Neue"/>
              </a:rPr>
              <a:t>Most of </a:t>
            </a:r>
            <a:r>
              <a:rPr lang="en-US" sz="1600" dirty="0">
                <a:solidFill>
                  <a:srgbClr val="1A1A1A"/>
                </a:solidFill>
                <a:latin typeface="Helvetica Neue"/>
              </a:rPr>
              <a:t>LLMs are decoder-based stacks (auto-regressive)</a:t>
            </a:r>
            <a:r>
              <a:rPr lang="en-US" sz="1600" i="0" dirty="0">
                <a:solidFill>
                  <a:srgbClr val="1A1A1A"/>
                </a:solidFill>
                <a:latin typeface="Helvetica Neue"/>
              </a:rPr>
              <a:t>.</a:t>
            </a:r>
            <a:endParaRPr sz="1600" i="0" dirty="0">
              <a:solidFill>
                <a:srgbClr val="1A1A1A"/>
              </a:solidFill>
              <a:latin typeface="Helvetica Neue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4654296"/>
            <a:ext cx="6199632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 dirty="0">
                <a:solidFill>
                  <a:srgbClr val="1F4F8B"/>
                </a:solidFill>
                <a:latin typeface="Helvetica Neue"/>
              </a:rPr>
              <a:t>WHY IT MATTERED</a:t>
            </a:r>
          </a:p>
          <a:p>
            <a:pPr algn="l">
              <a:spcBef>
                <a:spcPts val="400"/>
              </a:spcBef>
            </a:pPr>
            <a:r>
              <a:rPr sz="1400" b="0" i="0" dirty="0">
                <a:solidFill>
                  <a:srgbClr val="1A1A1A"/>
                </a:solidFill>
                <a:latin typeface="Helvetica Neue"/>
              </a:rPr>
              <a:t>No recurrence: the whole sequence is processed in </a:t>
            </a:r>
            <a:r>
              <a:rPr sz="1400" b="1" i="0" dirty="0">
                <a:solidFill>
                  <a:srgbClr val="1A1A1A"/>
                </a:solidFill>
                <a:latin typeface="Helvetica Neue"/>
              </a:rPr>
              <a:t>parallel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— what made web-scale training possible, and the </a:t>
            </a:r>
            <a:r>
              <a:rPr sz="1400" b="1" i="0" dirty="0">
                <a:solidFill>
                  <a:srgbClr val="1A1A1A"/>
                </a:solidFill>
                <a:latin typeface="Helvetica Neue"/>
              </a:rPr>
              <a:t>T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in </a:t>
            </a:r>
            <a:r>
              <a:rPr sz="1400" b="1" i="0" dirty="0">
                <a:solidFill>
                  <a:srgbClr val="1A1A1A"/>
                </a:solidFill>
                <a:latin typeface="Helvetica Neue"/>
              </a:rPr>
              <a:t>G</a:t>
            </a:r>
            <a:r>
              <a:rPr lang="en-US" sz="1400" b="0" i="0" dirty="0">
                <a:solidFill>
                  <a:srgbClr val="1A1A1A"/>
                </a:solidFill>
                <a:latin typeface="Helvetica Neue"/>
              </a:rPr>
              <a:t>enerative </a:t>
            </a:r>
            <a:r>
              <a:rPr sz="1400" b="1" i="0" dirty="0">
                <a:solidFill>
                  <a:srgbClr val="1A1A1A"/>
                </a:solidFill>
                <a:latin typeface="Helvetica Neue"/>
              </a:rPr>
              <a:t>P</a:t>
            </a:r>
            <a:r>
              <a:rPr lang="en-US" sz="1400" b="0" i="0" dirty="0">
                <a:solidFill>
                  <a:srgbClr val="1A1A1A"/>
                </a:solidFill>
                <a:latin typeface="Helvetica Neue"/>
              </a:rPr>
              <a:t>re-trained </a:t>
            </a:r>
            <a:r>
              <a:rPr sz="1400" b="1" i="0" dirty="0">
                <a:solidFill>
                  <a:srgbClr val="1A1A1A"/>
                </a:solidFill>
                <a:latin typeface="Helvetica Neue"/>
              </a:rPr>
              <a:t>T</a:t>
            </a:r>
            <a:r>
              <a:rPr lang="en-US" sz="1400" b="0" i="0" dirty="0">
                <a:solidFill>
                  <a:srgbClr val="1A1A1A"/>
                </a:solidFill>
                <a:latin typeface="Helvetica Neue"/>
              </a:rPr>
              <a:t>ransformer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54296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5848096"/>
            <a:ext cx="6199632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A6A6A"/>
                </a:solidFill>
                <a:latin typeface="Helvetica Neue"/>
              </a:rPr>
              <a:t>Figure 1, "Attention Is All You Need", Vaswani et al. 2017 — paper #2 in today's RAG corpus.</a:t>
            </a:r>
          </a:p>
        </p:txBody>
      </p:sp>
      <p:pic>
        <p:nvPicPr>
          <p:cNvPr id="13" name="Picture 12" descr="transformer-architecture-vaswani-2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598" y="1225764"/>
            <a:ext cx="4038716" cy="5138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dirty="0">
                <a:solidFill>
                  <a:srgbClr val="0A0A0A"/>
                </a:solidFill>
                <a:latin typeface="Helvetica Neue"/>
              </a:rPr>
              <a:t>One dumb objective: predict the next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703661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l"/>
            <a:r>
              <a:rPr sz="1350">
                <a:solidFill>
                  <a:srgbClr val="1A1A1A"/>
                </a:solidFill>
                <a:latin typeface="Helvetica Neue"/>
              </a:rPr>
              <a:t>The capital of France is </a:t>
            </a:r>
            <a:r>
              <a:rPr sz="1350" b="1">
                <a:solidFill>
                  <a:srgbClr val="1F4F8B"/>
                </a:solidFill>
                <a:latin typeface="Menlo"/>
              </a:rPr>
              <a:t>____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55904" y="1855634"/>
            <a:ext cx="0" cy="25603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95728" y="204765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6A6A6A"/>
                </a:solidFill>
                <a:latin typeface="Helvetica Neue"/>
              </a:rPr>
              <a:t>P(next token)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9514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“ Paris”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3976" y="2350008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93976" y="2350008"/>
            <a:ext cx="3736146" cy="201168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54496" y="2295144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6090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“ a”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93976" y="2715768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93976" y="2715768"/>
            <a:ext cx="205282" cy="201168"/>
          </a:xfrm>
          <a:prstGeom prst="rect">
            <a:avLst/>
          </a:prstGeom>
          <a:solidFill>
            <a:srgbClr val="9DB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54496" y="2660904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266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“ home”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3976" y="3081527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93976" y="3081527"/>
            <a:ext cx="123169" cy="201168"/>
          </a:xfrm>
          <a:prstGeom prst="rect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54496" y="3026664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619963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Helvetica Neue"/>
              </a:rPr>
              <a:t>Train on trillions of tokens with a single self-supervised target: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guess the next token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. No labels, no human annotation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: just learn the pattern in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the 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1517904"/>
            <a:ext cx="4544568" cy="355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Why this is enough.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1946655"/>
            <a:ext cx="4544568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To predict the next token well across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all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of human text, the model is forced to learn grammar, facts, translation, arithmetic, code, and a little reasoning.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7456" y="3204464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 dirty="0">
                <a:solidFill>
                  <a:srgbClr val="1F4F8B"/>
                </a:solidFill>
                <a:latin typeface="Helvetica Neue"/>
              </a:rPr>
              <a:t>COMPRESSION ≈ UNDERSTANDING</a:t>
            </a:r>
          </a:p>
          <a:p>
            <a:pPr algn="l">
              <a:spcBef>
                <a:spcPts val="400"/>
              </a:spcBef>
            </a:pPr>
            <a:r>
              <a:rPr sz="1400" b="0" i="0" dirty="0">
                <a:solidFill>
                  <a:srgbClr val="1A1A1A"/>
                </a:solidFill>
                <a:latin typeface="Helvetica Neue"/>
              </a:rPr>
              <a:t>Predicting well means modelling the structure that </a:t>
            </a:r>
            <a:r>
              <a:rPr sz="1400" b="0" i="1" dirty="0">
                <a:solidFill>
                  <a:srgbClr val="1A1A1A"/>
                </a:solidFill>
                <a:latin typeface="Helvetica Neue"/>
              </a:rPr>
              <a:t>generated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the text. Squeezing the web into weights forces useful abstractions to fall out.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77456" y="3204464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How text becomes math: tokens -&gt;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Tokenisation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text is split into sub-word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tokens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3232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"agentic"  -&gt;  ["agent", "ic"]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"RAG"      -&gt;  ["R", "AG"]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9976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Helvetica Neue"/>
              </a:rPr>
              <a:t>Embedding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— each token maps to a vector in a high-dimensional space (hundreds–thousands of dims).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517904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Meaning becomes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geometry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: tokens with similar meaning sit close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4224" y="2247392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king  - man  + woman  ~  queen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Paris - France + Japan ~ Tokyo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2972816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WHY IT MATTERS TODAY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same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embedding idea powers RAG retrieval in Notebook 03 — we embed text chunks and find the nearest ones to a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2972816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910126-E8C9-38A1-EDA7-05D85020092E}"/>
              </a:ext>
            </a:extLst>
          </p:cNvPr>
          <p:cNvSpPr txBox="1"/>
          <p:nvPr/>
        </p:nvSpPr>
        <p:spPr>
          <a:xfrm>
            <a:off x="566928" y="4667996"/>
            <a:ext cx="5708229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i="0" dirty="0">
                <a:solidFill>
                  <a:srgbClr val="1A1A1A"/>
                </a:solidFill>
                <a:latin typeface="Helvetica Neue"/>
              </a:rPr>
              <a:t>For visualized entire processing flow through </a:t>
            </a:r>
            <a:r>
              <a:rPr lang="en-US" sz="1600" dirty="0">
                <a:solidFill>
                  <a:srgbClr val="1A1A1A"/>
                </a:solidFill>
                <a:latin typeface="Helvetica Neue"/>
              </a:rPr>
              <a:t>Transformer: </a:t>
            </a:r>
            <a:r>
              <a:rPr lang="en-US" sz="1600" dirty="0">
                <a:solidFill>
                  <a:srgbClr val="1A1A1A"/>
                </a:solidFill>
                <a:latin typeface="Helvetica Neue"/>
                <a:hlinkClick r:id="rId3"/>
              </a:rPr>
              <a:t>https://github.com/krmdel/Transformer-From-Scratch/blob/main/transformer_whiteboard_explanation.png</a:t>
            </a:r>
            <a:r>
              <a:rPr lang="en-US" sz="1600" dirty="0">
                <a:solidFill>
                  <a:srgbClr val="1A1A1A"/>
                </a:solidFill>
                <a:latin typeface="Helvetica Neue"/>
              </a:rPr>
              <a:t> </a:t>
            </a:r>
            <a:endParaRPr sz="1600" i="0" dirty="0">
              <a:solidFill>
                <a:srgbClr val="1A1A1A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The engine: attention as learned relevance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6199632" cy="51206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The scientist read the paper because </a:t>
            </a:r>
            <a:r>
              <a:rPr sz="1400" b="1">
                <a:solidFill>
                  <a:srgbClr val="1F4F8B"/>
                </a:solidFill>
                <a:latin typeface="Helvetica Neue"/>
              </a:rPr>
              <a:t>it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was 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6199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6A6A6A"/>
                </a:solidFill>
                <a:latin typeface="Helvetica Neue"/>
              </a:rPr>
              <a:t>what  “it”  attends to — by learned relevance: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9631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3976" y="2551175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93976" y="2551175"/>
            <a:ext cx="2873959" cy="201168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54496" y="249631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6207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scientist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93976" y="2916935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93976" y="2916935"/>
            <a:ext cx="821131" cy="201168"/>
          </a:xfrm>
          <a:prstGeom prst="rect">
            <a:avLst/>
          </a:prstGeom>
          <a:solidFill>
            <a:srgbClr val="9DB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4496" y="2862072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02736"/>
            <a:ext cx="6199632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Each token builds its meaning by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attending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to the other tokens that matter — weighting them by learned relevance. Stack this dozens of times and you get rich, context-aware representations.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1517904"/>
            <a:ext cx="4544568" cy="355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Two properties that changed everything: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946655"/>
            <a:ext cx="4544568" cy="1804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Parallel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whole sequence is processed at once (RNNs went word-by-word). This is what made web-scale training feasible.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Long-range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 token can attend to anything in the context window, not just its neighbours.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824224"/>
            <a:ext cx="454456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A Transformer block = attention + a small feed-forward network, repeated N times.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Scaling laws &amp; emergence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Performance improves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predictably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with model size, data, and compute — smooth power-law curves (Kaplan 2020; Hoffmann/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Chinchilla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2022).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11552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CHINCHILLA, COMPUTE-OPTIMAL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For a fixed compute budget, scale parameters and data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together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— about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20 training tokens per parameter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 Most early models were badly under-trained.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11552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936491"/>
            <a:ext cx="525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Chinchilla is paper #3 in today's RAG corpus — you'll retrieve this exact claim in Notebook 03.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517904"/>
            <a:ext cx="5257800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Emergence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some abilities are absent in small models and appear, fairly abruptly, past a scale threshold: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511552"/>
            <a:ext cx="5257800" cy="1668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in-context learning (learn from examples in the prompt, no weight update)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multi-step arithmetic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following instructions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chain-of-thought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4252976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capabilities we build on this week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emerged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from scale — nobody hand-coded them.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EBFF08-2D9D-D63D-4F0C-A19BCCE66B81}"/>
              </a:ext>
            </a:extLst>
          </p:cNvPr>
          <p:cNvSpPr txBox="1"/>
          <p:nvPr/>
        </p:nvSpPr>
        <p:spPr>
          <a:xfrm>
            <a:off x="566928" y="5848096"/>
            <a:ext cx="619963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6A6A6A"/>
                </a:solidFill>
                <a:latin typeface="Helvetica Neue"/>
              </a:rPr>
              <a:t>https://</a:t>
            </a:r>
            <a:r>
              <a:rPr lang="en-US" sz="1200" dirty="0" err="1">
                <a:solidFill>
                  <a:srgbClr val="6A6A6A"/>
                </a:solidFill>
                <a:latin typeface="Helvetica Neue"/>
              </a:rPr>
              <a:t>arxiv.org</a:t>
            </a:r>
            <a:r>
              <a:rPr lang="en-US" sz="1200" dirty="0">
                <a:solidFill>
                  <a:srgbClr val="6A6A6A"/>
                </a:solidFill>
                <a:latin typeface="Helvetica Neue"/>
              </a:rPr>
              <a:t>/abs/2001.08361</a:t>
            </a:r>
            <a:endParaRPr sz="1200" b="0" i="0" dirty="0">
              <a:solidFill>
                <a:srgbClr val="6A6A6A"/>
              </a:solidFill>
              <a:latin typeface="Helvetica Neue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75869C-ECE5-8C39-9F75-DD0FBE1A8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37" y="4354608"/>
            <a:ext cx="4592382" cy="1453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Why this architecture fits us so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Language is humanity's API.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We already encode knowledge, intent, and reasoning in text. A model fluent in text plugs straight into how we work — no new interface to 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75712"/>
            <a:ext cx="5257800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In-context learning ≈ working memory.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Put examples or facts in the prompt and behaviour adapts on the spot, like a person holding instructions in mind for one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517904"/>
            <a:ext cx="5257800" cy="181406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 dirty="0">
                <a:solidFill>
                  <a:srgbClr val="4A7D3F"/>
                </a:solidFill>
                <a:latin typeface="Helvetica Neue"/>
              </a:rPr>
              <a:t>SYSTEM 1 VS SYSTEM 2 (KAHNEMAN)</a:t>
            </a:r>
          </a:p>
          <a:p>
            <a:pPr algn="l">
              <a:spcBef>
                <a:spcPts val="400"/>
              </a:spcBef>
            </a:pPr>
            <a:r>
              <a:rPr sz="1400" b="1" i="0" dirty="0">
                <a:solidFill>
                  <a:srgbClr val="1A1A1A"/>
                </a:solidFill>
                <a:latin typeface="Helvetica Neue"/>
              </a:rPr>
              <a:t>System 1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— fast, automatic, intuitive. A raw next-token answer is System-1-like: one fluent pass, no deliberation.</a:t>
            </a:r>
          </a:p>
          <a:p>
            <a:pPr algn="l">
              <a:spcBef>
                <a:spcPts val="400"/>
              </a:spcBef>
            </a:pPr>
            <a:r>
              <a:rPr sz="1400" b="1" i="0" dirty="0">
                <a:solidFill>
                  <a:srgbClr val="1A1A1A"/>
                </a:solidFill>
                <a:latin typeface="Helvetica Neue"/>
              </a:rPr>
              <a:t>System 2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— slow, effortful, step-by-step. We </a:t>
            </a:r>
            <a:r>
              <a:rPr sz="1400" b="0" i="1" dirty="0">
                <a:solidFill>
                  <a:srgbClr val="1A1A1A"/>
                </a:solidFill>
                <a:latin typeface="Helvetica Neue"/>
              </a:rPr>
              <a:t>elicit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it by asking the model to reason out loud.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4864" cy="1814068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3459988"/>
            <a:ext cx="5257800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That single idea —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make the fast model slow down and deliberate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is the seed of every reasoning pattern in Part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23560"/>
            <a:ext cx="1105509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A6A6A"/>
                </a:solidFill>
                <a:latin typeface="Helvetica Neue"/>
              </a:rPr>
              <a:t>Analogy, not a claim that models literally think. It's a useful map for </a:t>
            </a:r>
            <a:r>
              <a:rPr sz="1200" b="0" i="1" dirty="0">
                <a:solidFill>
                  <a:srgbClr val="6A6A6A"/>
                </a:solidFill>
                <a:latin typeface="Helvetica Neue"/>
              </a:rPr>
              <a:t>why</a:t>
            </a:r>
            <a:r>
              <a:rPr sz="1200" b="0" i="0" dirty="0">
                <a:solidFill>
                  <a:srgbClr val="6A6A6A"/>
                </a:solidFill>
                <a:latin typeface="Helvetica Neue"/>
              </a:rPr>
              <a:t> the patterns work.</a:t>
            </a:r>
            <a:endParaRPr lang="en-US" sz="1200" b="0" i="0" dirty="0">
              <a:solidFill>
                <a:srgbClr val="6A6A6A"/>
              </a:solidFill>
              <a:latin typeface="Helvetica Neue"/>
            </a:endParaRPr>
          </a:p>
          <a:p>
            <a:r>
              <a:rPr lang="en-US" sz="1200" dirty="0">
                <a:solidFill>
                  <a:srgbClr val="6A6A6A"/>
                </a:solidFill>
                <a:latin typeface="Helvetica Neue"/>
              </a:rPr>
              <a:t>It’s also a huge debate whether we need language to be able to think… </a:t>
            </a:r>
          </a:p>
          <a:p>
            <a:r>
              <a:rPr lang="en-US" sz="1200" dirty="0">
                <a:solidFill>
                  <a:srgbClr val="6A6A6A"/>
                </a:solidFill>
                <a:latin typeface="Helvetica Neue"/>
                <a:hlinkClick r:id="rId3"/>
              </a:rPr>
              <a:t>https://www.nytimes.com/2024/06/19/science/brain-language-thought.html</a:t>
            </a:r>
            <a:endParaRPr lang="en-US" sz="1200" dirty="0">
              <a:solidFill>
                <a:srgbClr val="6A6A6A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2 · SINGLE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The agentic 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 dirty="0">
                <a:solidFill>
                  <a:srgbClr val="555555"/>
                </a:solidFill>
                <a:latin typeface="Helvetica Neue"/>
              </a:rPr>
              <a:t>From a bare model to a reasoning, tool-using agent — one 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step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 at a time. 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All s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ingle-agent this week; multi-agent is Week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The ladder — what we climb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C8553D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6192" y="1517904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1517904"/>
            <a:ext cx="8558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Multi-agent systems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specialists +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70463" y="1673351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8553D"/>
                </a:solidFill>
                <a:latin typeface="Helvetica Neue"/>
              </a:rPr>
              <a:t>→ Week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4A7D3F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36192" y="2267712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2267712"/>
            <a:ext cx="8558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+ Reasoning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CoT · ToT · ReAct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70463" y="2423160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7D3F"/>
                </a:solidFill>
                <a:latin typeface="Helvetica Neue"/>
              </a:rPr>
              <a:t>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17520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4A7D3F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36192" y="3017520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3017520"/>
            <a:ext cx="8558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+ Tool use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the model acts on the world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70463" y="3172968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7D3F"/>
                </a:solidFill>
                <a:latin typeface="Helvetica Neue"/>
              </a:rPr>
              <a:t>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67328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6192" y="3767328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3767328"/>
            <a:ext cx="85587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Bare LLM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one prompt, one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70463" y="3922776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7D3F"/>
                </a:solidFill>
                <a:latin typeface="Helvetica Neue"/>
              </a:rPr>
              <a:t>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681728"/>
            <a:ext cx="52578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Helvetica Neue"/>
              </a:rPr>
              <a:t>Each 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level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adds one capability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to the rung below. Nothing here is a new model — it's the same LLM with more scaffolding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 (aka harnessing)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around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4681728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THREAD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L0 answers. L1 lets it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act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 L2 lets it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deliberate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 The "agent" is the loop you wrap around the model — not the model itself.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4681728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Anatomy of an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517904"/>
            <a:ext cx="2926080" cy="676656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LLM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  <a:latin typeface="Helvetica Neue"/>
              </a:rPr>
              <a:t>the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089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>
                <a:solidFill>
                  <a:srgbClr val="4A7D3F"/>
                </a:solidFill>
                <a:latin typeface="Helvetica Neue"/>
              </a:rPr>
              <a:t>Tools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APIs · DBs · code ·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4276" y="31089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>
                <a:solidFill>
                  <a:srgbClr val="1F4F8B"/>
                </a:solidFill>
                <a:latin typeface="Helvetica Neue"/>
              </a:rPr>
              <a:t>Memory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context window +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21624" y="31089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600" b="1">
                <a:solidFill>
                  <a:srgbClr val="C8553D"/>
                </a:solidFill>
                <a:latin typeface="Helvetica Neue"/>
              </a:rPr>
              <a:t>Control loop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you write this!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" y="2194560"/>
            <a:ext cx="0" cy="457200"/>
          </a:xfrm>
          <a:prstGeom prst="line">
            <a:avLst/>
          </a:prstGeom>
          <a:ln w="1905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67128" y="2651760"/>
            <a:ext cx="7854696" cy="0"/>
          </a:xfrm>
          <a:prstGeom prst="line">
            <a:avLst/>
          </a:prstGeom>
          <a:ln w="1905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67128" y="2651760"/>
            <a:ext cx="0" cy="45720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4476" y="2651760"/>
            <a:ext cx="0" cy="45720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21824" y="2651760"/>
            <a:ext cx="0" cy="45720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471416"/>
            <a:ext cx="11055096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Tools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= capability.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Memory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= state.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Loop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= agency. Take away the loop and you have an LLM call. Take away tools and you have a chatbot. Take away memory and you have amnesia.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L0 — the bare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One prompt in, one answer out. Brilliant at language; blind beyond its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5257800" cy="355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What it cannot do: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76144"/>
            <a:ext cx="5257800" cy="1996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Know anything after its training cut-off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Look up a fact it didn't memorise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Do anything in the world (send mail, query a DB, run code)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Reliably do long exact arithmetic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Tell you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why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it's confident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257800" cy="41757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user -&gt; LLM -&gt;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2045208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C8553D"/>
                </a:solidFill>
                <a:latin typeface="Helvetica Neue"/>
              </a:rPr>
              <a:t>THE CEILING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A bare LLM is a brilliant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improviser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with no hands, no memory of today, and no scratchpad. Everything above this rung removes one of those limits.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2045208"/>
            <a:ext cx="54864" cy="1296924"/>
          </a:xfrm>
          <a:prstGeom prst="rect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L1 — tool use: give the model hands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A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tool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is just a function the model may ask you to call. The loop: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47392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2247392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LLM reads the question + tool list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668016"/>
            <a:ext cx="0" cy="16459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283260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" y="2832608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l"/>
            <a:r>
              <a:rPr sz="1250" b="0" i="0" dirty="0">
                <a:solidFill>
                  <a:srgbClr val="1A1A1A"/>
                </a:solidFill>
                <a:latin typeface="Helvetica Neue"/>
              </a:rPr>
              <a:t>LLM requests a call:  calculator</a:t>
            </a:r>
            <a:r>
              <a:rPr lang="en-US" sz="1250" b="0" i="0" dirty="0">
                <a:solidFill>
                  <a:srgbClr val="1A1A1A"/>
                </a:solidFill>
                <a:latin typeface="Helvetica Neue"/>
              </a:rPr>
              <a:t> </a:t>
            </a:r>
            <a:r>
              <a:rPr sz="1250" b="0" i="0" dirty="0">
                <a:solidFill>
                  <a:srgbClr val="1A1A1A"/>
                </a:solidFill>
                <a:latin typeface="Helvetica Neue"/>
              </a:rPr>
              <a:t>(17×25)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253232"/>
            <a:ext cx="0" cy="16459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" y="3417824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4A7D3F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417824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YOUR code runs the function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838448"/>
            <a:ext cx="0" cy="164591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400304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5568" y="4003040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feed the result back to the 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4423664"/>
            <a:ext cx="0" cy="16459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4588256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4588256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tlCol="0" anchor="ctr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repeat until the LLM is done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70448" y="4707128"/>
            <a:ext cx="621792" cy="0"/>
          </a:xfrm>
          <a:prstGeom prst="line">
            <a:avLst/>
          </a:prstGeom>
          <a:ln w="19050">
            <a:solidFill>
              <a:srgbClr val="4A7D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492240" y="2457704"/>
            <a:ext cx="0" cy="2249424"/>
          </a:xfrm>
          <a:prstGeom prst="line">
            <a:avLst/>
          </a:prstGeom>
          <a:ln w="19050">
            <a:solidFill>
              <a:srgbClr val="4A7D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870448" y="2457704"/>
            <a:ext cx="621792" cy="0"/>
          </a:xfrm>
          <a:prstGeom prst="line">
            <a:avLst/>
          </a:prstGeom>
          <a:ln w="19050">
            <a:solidFill>
              <a:srgbClr val="4A7D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45836" y="346138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 dirty="0">
                <a:solidFill>
                  <a:srgbClr val="4A7D3F"/>
                </a:solidFill>
                <a:latin typeface="Helvetica Neue"/>
              </a:rPr>
              <a:t>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466080"/>
            <a:ext cx="6199632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model never runs anything. It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requests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; your code executes and returns the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1517904"/>
            <a:ext cx="4544568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Helvetica Neue"/>
              </a:rPr>
              <a:t>Function calling.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Modern models are fine-tuned to pick a tool and fill its arguments from a schema you provide.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77456" y="2511552"/>
            <a:ext cx="4544568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WHO CARRIES THE RESPONSIBILITY?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vendor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trained the tool-selection skill.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You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own writing clear tool names + descriptions. Get those right and the model routes well.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77456" y="2511552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77456" y="3936491"/>
            <a:ext cx="454456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Suddenly the model can fetch fresh facts, query data, and act — L0's ceiling is gone.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L2 — reasoning: make the fast model slow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5096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Helvetica Neue"/>
              </a:rPr>
              <a:t>The jump from L1 to L2 is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System 1 -&gt; System 2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. Same model, but we change the prompt so it </a:t>
            </a:r>
            <a:r>
              <a:rPr sz="1600" b="0" i="1" dirty="0">
                <a:solidFill>
                  <a:srgbClr val="1A1A1A"/>
                </a:solidFill>
                <a:latin typeface="Helvetica Neue"/>
              </a:rPr>
              <a:t>deliberates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before it answers or 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10816"/>
            <a:ext cx="5257800" cy="834643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 dirty="0">
                <a:solidFill>
                  <a:srgbClr val="1F4F8B"/>
                </a:solidFill>
                <a:latin typeface="Helvetica Neue"/>
              </a:rPr>
              <a:t>CHAIN-OF-THOUGHT</a:t>
            </a:r>
          </a:p>
          <a:p>
            <a:pPr algn="l">
              <a:spcBef>
                <a:spcPts val="400"/>
              </a:spcBef>
            </a:pPr>
            <a:r>
              <a:rPr sz="1400" b="0" i="0" dirty="0">
                <a:solidFill>
                  <a:srgbClr val="1A1A1A"/>
                </a:solidFill>
                <a:latin typeface="Helvetica Neue"/>
              </a:rPr>
              <a:t>Think in a straight line, out 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10816"/>
            <a:ext cx="54864" cy="834643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3173476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TREE-OF-THOUGHTS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Branch, evaluate, search — don't bet on the first idea.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73476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64224" y="2210816"/>
            <a:ext cx="5257800" cy="834643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REACT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Reason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and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act — interleave thinking with tool calls.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2210816"/>
            <a:ext cx="54864" cy="834643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173476"/>
            <a:ext cx="525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CoT is the base. ToT searches over it. ReAct couples it to L1's tools. The next four slides take each in turn.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Chain-of-Thought (CoT)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Five words change the answer: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"Let's think step by step."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3232"/>
            <a:ext cx="6199632" cy="220065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Q: A juggler has 16 balls. Half are golf balls,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 and half of those are blue. How many blue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 golf balls?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DIRECT:           4        (right or wrong, no trace)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STEP BY STEP: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16 balls -&gt; half golf      = 8 golf balls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8 golf  -&gt; half blue       = 4 blue golf balls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Answer: 4                  (visible, checkable)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7456" y="1517904"/>
            <a:ext cx="4544568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model uses its own intermediate tokens as a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scratchpad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deliberate reasoning, summoned by a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7456" y="2511552"/>
            <a:ext cx="4544568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WHY IT WORKS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Hard problems need intermediate steps. Forcing the model to write them spends compute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before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the answer, instead of guessing in one 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77456" y="2511552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77456" y="3936491"/>
            <a:ext cx="454456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CoT is System 2, on demand. It's the building block ReAct extends.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B95F37-4BAC-C3BB-B1CB-D60DE386D5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91" r="-688" b="74262"/>
          <a:stretch>
            <a:fillRect/>
          </a:stretch>
        </p:blipFill>
        <p:spPr>
          <a:xfrm>
            <a:off x="979629" y="4510469"/>
            <a:ext cx="5029200" cy="10110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4AC63E-6E39-2E33-CF90-5C16C998D356}"/>
              </a:ext>
            </a:extLst>
          </p:cNvPr>
          <p:cNvSpPr txBox="1"/>
          <p:nvPr/>
        </p:nvSpPr>
        <p:spPr>
          <a:xfrm>
            <a:off x="566928" y="5848096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6A6A6A"/>
                </a:solidFill>
                <a:latin typeface="Helvetica Neue"/>
                <a:hlinkClick r:id="rId4"/>
              </a:rPr>
              <a:t>https://medium.datadriveninvestor.com/3-prompting-techniques-for-reasoning-in-llms-ff1b7c62413c</a:t>
            </a:r>
            <a:endParaRPr lang="en-US" sz="1200" dirty="0">
              <a:solidFill>
                <a:srgbClr val="6A6A6A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Tree-of-Thoughts (ToT)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 err="1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CoT</a:t>
            </a:r>
            <a:r>
              <a:rPr sz="1600" b="0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commits to one </a:t>
            </a:r>
            <a:r>
              <a:rPr lang="en-US" sz="1600" b="0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branch</a:t>
            </a:r>
            <a:r>
              <a:rPr sz="1600" b="0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reasoning. If an early step is wrong, </a:t>
            </a:r>
            <a:r>
              <a:rPr lang="en-US" sz="1600" b="0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 gets messy</a:t>
            </a:r>
            <a:r>
              <a:rPr sz="1600" b="0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  <a:r>
              <a:rPr lang="en-US" sz="1600" b="0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However, </a:t>
            </a:r>
            <a:r>
              <a:rPr sz="1600" b="1" i="0" dirty="0" err="1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ToT</a:t>
            </a:r>
            <a:r>
              <a:rPr sz="1600" b="1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treats reasoning </a:t>
            </a:r>
            <a:r>
              <a:rPr lang="en-US" sz="1600" b="1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like a </a:t>
            </a:r>
            <a:r>
              <a:rPr sz="1600" b="1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search</a:t>
            </a:r>
            <a:r>
              <a:rPr lang="en-US" sz="1600" b="1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problem </a:t>
            </a:r>
            <a:r>
              <a:rPr lang="en-US" sz="1600" i="0" dirty="0">
                <a:solidFill>
                  <a:srgbClr val="1A1A1A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allowing the model 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 explore multiple reasoning paths, self-evaluate intermediate steps, and backtrack when necessary, mimicking human trial-and-error cognition.</a:t>
            </a:r>
            <a:endParaRPr sz="1600" b="1" i="0" dirty="0">
              <a:solidFill>
                <a:srgbClr val="1A1A1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F075B5-7DF7-E0D2-09F8-9114F6338D5F}"/>
              </a:ext>
            </a:extLst>
          </p:cNvPr>
          <p:cNvGrpSpPr/>
          <p:nvPr/>
        </p:nvGrpSpPr>
        <p:grpSpPr>
          <a:xfrm>
            <a:off x="384048" y="3125442"/>
            <a:ext cx="6382512" cy="2121408"/>
            <a:chOff x="475488" y="2247392"/>
            <a:chExt cx="6382512" cy="2121408"/>
          </a:xfrm>
        </p:grpSpPr>
        <p:sp>
          <p:nvSpPr>
            <p:cNvPr id="8" name="Rounded Rectangle 7"/>
            <p:cNvSpPr/>
            <p:nvPr/>
          </p:nvSpPr>
          <p:spPr>
            <a:xfrm>
              <a:off x="2660903" y="2247392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7F8FA"/>
            </a:solidFill>
            <a:ln w="15875">
              <a:solidFill>
                <a:srgbClr val="1F4F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400" b="1" dirty="0">
                  <a:solidFill>
                    <a:srgbClr val="1F4F8B"/>
                  </a:solidFill>
                  <a:latin typeface="Helvetica Neue"/>
                </a:rPr>
                <a:t>problem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1367028" y="2704592"/>
              <a:ext cx="2299716" cy="502920"/>
            </a:xfrm>
            <a:prstGeom prst="line">
              <a:avLst/>
            </a:prstGeom>
            <a:ln w="19050">
              <a:solidFill>
                <a:srgbClr val="6A6A6A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66928" y="3207512"/>
              <a:ext cx="1600200" cy="457200"/>
            </a:xfrm>
            <a:prstGeom prst="roundRect">
              <a:avLst>
                <a:gd name="adj" fmla="val 12000"/>
              </a:avLst>
            </a:prstGeom>
            <a:solidFill>
              <a:srgbClr val="F7F8FA"/>
            </a:solidFill>
            <a:ln w="15875">
              <a:solidFill>
                <a:srgbClr val="4A7D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250" b="1">
                  <a:solidFill>
                    <a:srgbClr val="4A7D3F"/>
                  </a:solidFill>
                  <a:latin typeface="Helvetica Neue"/>
                </a:rPr>
                <a:t>branch</a:t>
              </a:r>
            </a:p>
            <a:p>
              <a:pPr algn="ctr">
                <a:spcBef>
                  <a:spcPts val="200"/>
                </a:spcBef>
              </a:pPr>
              <a:r>
                <a:rPr sz="1050">
                  <a:solidFill>
                    <a:srgbClr val="6A6A6A"/>
                  </a:solidFill>
                  <a:latin typeface="Helvetica Neue"/>
                </a:rPr>
                <a:t>✓ sure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666744" y="2704592"/>
              <a:ext cx="0" cy="502920"/>
            </a:xfrm>
            <a:prstGeom prst="line">
              <a:avLst/>
            </a:prstGeom>
            <a:ln w="19050">
              <a:solidFill>
                <a:srgbClr val="6A6A6A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2866644" y="3207512"/>
              <a:ext cx="1600200" cy="457200"/>
            </a:xfrm>
            <a:prstGeom prst="roundRect">
              <a:avLst>
                <a:gd name="adj" fmla="val 12000"/>
              </a:avLst>
            </a:prstGeom>
            <a:solidFill>
              <a:srgbClr val="F7F8FA"/>
            </a:solidFill>
            <a:ln w="15875">
              <a:solidFill>
                <a:srgbClr val="1F4F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250" b="1" dirty="0">
                  <a:solidFill>
                    <a:srgbClr val="1F4F8B"/>
                  </a:solidFill>
                  <a:latin typeface="Helvetica Neue"/>
                </a:rPr>
                <a:t>branch</a:t>
              </a:r>
            </a:p>
            <a:p>
              <a:pPr algn="ctr">
                <a:spcBef>
                  <a:spcPts val="200"/>
                </a:spcBef>
              </a:pPr>
              <a:r>
                <a:rPr sz="1050" dirty="0">
                  <a:solidFill>
                    <a:srgbClr val="6A6A6A"/>
                  </a:solidFill>
                  <a:latin typeface="Helvetica Neue"/>
                </a:rPr>
                <a:t>~ maybe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666744" y="2704592"/>
              <a:ext cx="2299716" cy="502920"/>
            </a:xfrm>
            <a:prstGeom prst="line">
              <a:avLst/>
            </a:prstGeom>
            <a:ln w="19050">
              <a:solidFill>
                <a:srgbClr val="6A6A6A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5166360" y="3207512"/>
              <a:ext cx="1600200" cy="457200"/>
            </a:xfrm>
            <a:prstGeom prst="roundRect">
              <a:avLst>
                <a:gd name="adj" fmla="val 12000"/>
              </a:avLst>
            </a:prstGeom>
            <a:solidFill>
              <a:srgbClr val="F7F8FA"/>
            </a:solidFill>
            <a:ln w="15875">
              <a:solidFill>
                <a:srgbClr val="C855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/>
              <a:r>
                <a:rPr sz="1250" b="1">
                  <a:solidFill>
                    <a:srgbClr val="C8553D"/>
                  </a:solidFill>
                  <a:latin typeface="Helvetica Neue"/>
                </a:rPr>
                <a:t>branch</a:t>
              </a:r>
            </a:p>
            <a:p>
              <a:pPr algn="ctr">
                <a:spcBef>
                  <a:spcPts val="200"/>
                </a:spcBef>
              </a:pPr>
              <a:r>
                <a:rPr sz="1050">
                  <a:solidFill>
                    <a:srgbClr val="6A6A6A"/>
                  </a:solidFill>
                  <a:latin typeface="Helvetica Neue"/>
                </a:rPr>
                <a:t>✗ dead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367028" y="3664712"/>
              <a:ext cx="0" cy="411480"/>
            </a:xfrm>
            <a:prstGeom prst="line">
              <a:avLst/>
            </a:prstGeom>
            <a:ln w="19050">
              <a:solidFill>
                <a:srgbClr val="4A7D3F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75488" y="4076192"/>
              <a:ext cx="1783080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4A7D3F"/>
                  </a:solidFill>
                  <a:latin typeface="Helvetica Neue"/>
                </a:rPr>
                <a:t>expand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74920" y="4076192"/>
              <a:ext cx="1783080" cy="2926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i="0">
                  <a:solidFill>
                    <a:srgbClr val="C8553D"/>
                  </a:solidFill>
                  <a:latin typeface="Helvetica Neue"/>
                </a:rPr>
                <a:t>prune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077456" y="1517904"/>
            <a:ext cx="4544568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Propose -&gt; evaluate -&gt; expand the best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with backtracking out of dead 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77456" y="2247392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TRADE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ToT spends a lot more compute (many model calls) to buy accuracy on problems where one CoT chain routinely fails — planning, puzzles, proof search.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7456" y="2247392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7456" y="3903472"/>
            <a:ext cx="4544568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Notebook 02 shows one propose/evaluate level live on the Game of 24.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DD97ABE-7E26-CB1D-CC78-3C18D5C763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477"/>
          <a:stretch>
            <a:fillRect/>
          </a:stretch>
        </p:blipFill>
        <p:spPr>
          <a:xfrm>
            <a:off x="7021581" y="4416611"/>
            <a:ext cx="4251367" cy="184696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D88B002-C242-F601-35EF-81E83B88D6C9}"/>
              </a:ext>
            </a:extLst>
          </p:cNvPr>
          <p:cNvSpPr txBox="1"/>
          <p:nvPr/>
        </p:nvSpPr>
        <p:spPr>
          <a:xfrm>
            <a:off x="566928" y="5848096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6A6A6A"/>
                </a:solidFill>
                <a:latin typeface="Helvetica Neue"/>
                <a:hlinkClick r:id="rId4"/>
              </a:rPr>
              <a:t>https://medium.datadriveninvestor.com/3-prompting-techniques-for-reasoning-in-llms-ff1b7c62413c</a:t>
            </a:r>
            <a:endParaRPr lang="en-US" sz="1200" dirty="0">
              <a:solidFill>
                <a:srgbClr val="6A6A6A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ReAct = Reason +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CoT thinks. L1 acts.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ReAct interleaves them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in one loop (Yao et al. 2022): a Thought, an Action (tool call), the Observation it returns — repeat.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11552"/>
            <a:ext cx="6199632" cy="220065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Answer the question. Tools: {tools}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Question: the input question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 reasoning about what to do next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  one of [{tool_names}]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the input to the action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the result of the action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... (repeat)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 I now know the final answer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Final Answer: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7456" y="2511552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MECHANISM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Stop the model right after "Action Input". Run the tool yourself. Append the real "Observation". Re-prompt. The model never hallucinates a result — it reads the one your code returned.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77456" y="2511552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AAA589D-62C1-AFCE-79D3-E8466A2B1848}"/>
              </a:ext>
            </a:extLst>
          </p:cNvPr>
          <p:cNvSpPr/>
          <p:nvPr/>
        </p:nvSpPr>
        <p:spPr>
          <a:xfrm>
            <a:off x="314107" y="3158471"/>
            <a:ext cx="329603" cy="132623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C67D0FB2-7109-10F6-6426-3E65AB3A2D58}"/>
              </a:ext>
            </a:extLst>
          </p:cNvPr>
          <p:cNvSpPr/>
          <p:nvPr/>
        </p:nvSpPr>
        <p:spPr>
          <a:xfrm>
            <a:off x="314106" y="3362688"/>
            <a:ext cx="329603" cy="132623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832C080-CCEB-97AA-CE11-1B913F05528F}"/>
              </a:ext>
            </a:extLst>
          </p:cNvPr>
          <p:cNvSpPr/>
          <p:nvPr/>
        </p:nvSpPr>
        <p:spPr>
          <a:xfrm>
            <a:off x="314105" y="3721944"/>
            <a:ext cx="329603" cy="132623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a ReAct trace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11055096" cy="378561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I need the authors of the ReAct paper first.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web_search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ReAct paper LLM reasoning acting authors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Yao et al., ICLR 2023 (arXiv:2210.03629).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Now the year of the transformer paper.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web_search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transformer paper Attention Is All You Need year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Published in 2017 (Vaswani et al.).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I have both. 2023 - 2017.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calculator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2023 - 2017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6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I now know the final answer.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Final Answer: ReAct (Yao et al., 2023) came six years after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the transformer paper (Vaswani et al., 2017).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413248"/>
            <a:ext cx="11055096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Thought -&gt; Action -&gt; Observation, repeat. That loop </a:t>
            </a:r>
            <a:r>
              <a:rPr sz="1200" b="0" i="1">
                <a:solidFill>
                  <a:srgbClr val="6A6A6A"/>
                </a:solidFill>
                <a:latin typeface="Helvetica Neue"/>
              </a:rPr>
              <a:t>is</a:t>
            </a:r>
            <a:r>
              <a:rPr sz="1200" b="0" i="0">
                <a:solidFill>
                  <a:srgbClr val="6A6A6A"/>
                </a:solidFill>
                <a:latin typeface="Helvetica Neue"/>
              </a:rPr>
              <a:t> the agent. You'll build it by hand in Notebook 02.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Two ways to pick a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405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A0A0A"/>
                </a:solidFill>
                <a:latin typeface="Helvetica Neue"/>
              </a:rPr>
              <a:t>ReAct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7898"/>
            <a:ext cx="5257800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Tool choice lives in the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prompt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you write. The model emits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Action: / Action Input: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as text; you parse it with a regex.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71546"/>
            <a:ext cx="5257800" cy="1011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High control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read and edit every step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Brittle parsing; works even on models with no native tool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517904"/>
            <a:ext cx="5257800" cy="405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A0A0A"/>
                </a:solidFill>
                <a:latin typeface="Helvetica Neue"/>
              </a:rPr>
              <a:t>Function-calling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977898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Tool choice is the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model vendor's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native capability. It returns a structured tool call; no parsing.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707386"/>
            <a:ext cx="5257800" cy="747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Less control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much less headache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Robust; needs a modern tool-calling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28618"/>
            <a:ext cx="11055096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 dirty="0">
                <a:solidFill>
                  <a:srgbClr val="1F4F8B"/>
                </a:solidFill>
                <a:latin typeface="Helvetica Neue"/>
              </a:rPr>
              <a:t>"WHERE DO WE SHIFT THE RESPONSIBILITY?"</a:t>
            </a:r>
          </a:p>
          <a:p>
            <a:pPr algn="l">
              <a:spcBef>
                <a:spcPts val="400"/>
              </a:spcBef>
            </a:pPr>
            <a:r>
              <a:rPr sz="1400" b="0" i="0" dirty="0" err="1">
                <a:solidFill>
                  <a:srgbClr val="1A1A1A"/>
                </a:solidFill>
                <a:latin typeface="Helvetica Neue"/>
              </a:rPr>
              <a:t>ReAct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keeps tool selection in </a:t>
            </a:r>
            <a:r>
              <a:rPr sz="1400" b="0" i="1" dirty="0">
                <a:solidFill>
                  <a:srgbClr val="1A1A1A"/>
                </a:solidFill>
                <a:latin typeface="Helvetica Neue"/>
              </a:rPr>
              <a:t>your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prompt; the function-calling agent shifts it to the </a:t>
            </a:r>
            <a:r>
              <a:rPr sz="1400" b="0" i="1" dirty="0">
                <a:solidFill>
                  <a:srgbClr val="1A1A1A"/>
                </a:solidFill>
                <a:latin typeface="Helvetica Neue"/>
              </a:rPr>
              <a:t>vendor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. Most production agents use function calling; </a:t>
            </a:r>
            <a:r>
              <a:rPr sz="1400" b="0" i="0" dirty="0" err="1">
                <a:solidFill>
                  <a:srgbClr val="1A1A1A"/>
                </a:solidFill>
                <a:latin typeface="Helvetica Neue"/>
              </a:rPr>
              <a:t>ReAct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remains the clearest way to </a:t>
            </a:r>
            <a:r>
              <a:rPr sz="1400" b="0" i="1" dirty="0">
                <a:solidFill>
                  <a:srgbClr val="1A1A1A"/>
                </a:solidFill>
                <a:latin typeface="Helvetica Neue"/>
              </a:rPr>
              <a:t>understand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what an agent 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28618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3 · 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A short intro to LangChain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 dirty="0">
                <a:solidFill>
                  <a:srgbClr val="555555"/>
                </a:solidFill>
                <a:latin typeface="Helvetica Neue"/>
              </a:rPr>
              <a:t>We've climbed the ladder by hand. </a:t>
            </a:r>
            <a:r>
              <a:rPr sz="1800" b="0" i="0" dirty="0" err="1">
                <a:solidFill>
                  <a:srgbClr val="555555"/>
                </a:solidFill>
                <a:latin typeface="Helvetica Neue"/>
              </a:rPr>
              <a:t>LangChain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 is the standard toolkit that implements every </a:t>
            </a:r>
            <a:r>
              <a:rPr lang="en-US" sz="1800" b="0" i="0" dirty="0">
                <a:solidFill>
                  <a:srgbClr val="555555"/>
                </a:solidFill>
                <a:latin typeface="Helvetica Neue"/>
              </a:rPr>
              <a:t>step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 — so you don't re-write the loop each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LangChain is (and isn't)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A thin,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vendor-neutral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layer over "call a model, give it a prompt, maybe tools, parse the output." The same code runs on Anthropic, OpenAI, Google.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1552"/>
            <a:ext cx="5257800" cy="355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Five pieces, one operator: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940304"/>
          <a:ext cx="5257800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Piece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Class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Model wrapper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ChatGoogleGenerativeAI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Messages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SystemMessage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/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HumanMessage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Prompt template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ChatPromptTemplate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Output parser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StrOutputParser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Tool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@tool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64224" y="1517904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Helvetica Neue"/>
              </a:rPr>
              <a:t>LCEL — the pipe.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Connect components with </a:t>
            </a:r>
            <a:r>
              <a:rPr sz="1600" b="0" i="0" dirty="0">
                <a:solidFill>
                  <a:srgbClr val="1A1A1A"/>
                </a:solidFill>
                <a:latin typeface="Menlo"/>
              </a:rPr>
              <a:t>|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, like a Unix pipe: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4224" y="2247392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chain = prompt | llm | parser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chain.invoke({"concept": "embeddings"})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2972816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IT ISN'T MAGIC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Everything we built by hand — the tool loop, the ReAct parse — LangChain wraps in one call. Because you built the primitive first, the abstraction is transparent.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2972816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LangChain implements the ladder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17904"/>
          <a:ext cx="11055096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Rung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By hand (Parts 1-2)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In LangChain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L0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bare model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client.messages.create(...)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ChatGoogleGenerativeAI(...).invoke(...)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L1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tool use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1A"/>
                          </a:solidFill>
                          <a:latin typeface="Helvetica Neue"/>
                        </a:rPr>
                        <a:t>your </a:t>
                      </a:r>
                      <a:r>
                        <a:rPr sz="1200" b="0" i="0" dirty="0">
                          <a:solidFill>
                            <a:srgbClr val="1A1A1A"/>
                          </a:solidFill>
                          <a:latin typeface="Menlo"/>
                        </a:rPr>
                        <a:t>for</a:t>
                      </a:r>
                      <a:r>
                        <a:rPr sz="1200" b="0" i="0" dirty="0">
                          <a:solidFill>
                            <a:srgbClr val="1A1A1A"/>
                          </a:solidFill>
                          <a:latin typeface="Helvetica Neue"/>
                        </a:rPr>
                        <a:t> loop + regex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create_tool_calling_agent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+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AgentExecutor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L2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ReAct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1A"/>
                          </a:solidFill>
                          <a:latin typeface="Helvetica Neue"/>
                        </a:rPr>
                        <a:t>your prompt + </a:t>
                      </a:r>
                      <a:r>
                        <a:rPr sz="1200" b="0" i="0" dirty="0" err="1">
                          <a:solidFill>
                            <a:srgbClr val="1A1A1A"/>
                          </a:solidFill>
                          <a:latin typeface="Menlo"/>
                        </a:rPr>
                        <a:t>parse_action</a:t>
                      </a:r>
                      <a:endParaRPr sz="1200" b="0" i="0" dirty="0">
                        <a:solidFill>
                          <a:srgbClr val="1A1A1A"/>
                        </a:solidFill>
                        <a:latin typeface="Menlo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create_react_agent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+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AgentExecutor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7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Memory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(RAG)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manual chunk + embed + search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1A1A1A"/>
                          </a:solidFill>
                          <a:latin typeface="Helvetica Neue"/>
                        </a:rPr>
                        <a:t>loaders + splitters + vector stores + retrievers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291840"/>
            <a:ext cx="11055096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We pin the classic LangChain 0.3.x line — the last with </a:t>
            </a:r>
            <a:r>
              <a:rPr sz="1200" b="0" i="0">
                <a:solidFill>
                  <a:srgbClr val="6A6A6A"/>
                </a:solidFill>
                <a:latin typeface="Menlo"/>
              </a:rPr>
              <a:t>AgentExecutor</a:t>
            </a:r>
            <a:r>
              <a:rPr sz="1200" b="0" i="0">
                <a:solidFill>
                  <a:srgbClr val="6A6A6A"/>
                </a:solidFill>
                <a:latin typeface="Helvetica Neue"/>
              </a:rPr>
              <a:t>. LangGraph (the newer agent runtime) is the Week 3 reveal.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Structured output: function calling, aimed at the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6199632" cy="25968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from </a:t>
            </a:r>
            <a:r>
              <a:rPr sz="1200" dirty="0" err="1">
                <a:solidFill>
                  <a:srgbClr val="1A1A1A"/>
                </a:solidFill>
                <a:latin typeface="Menlo"/>
              </a:rPr>
              <a:t>pydantic</a:t>
            </a:r>
            <a:r>
              <a:rPr sz="1200" dirty="0">
                <a:solidFill>
                  <a:srgbClr val="1A1A1A"/>
                </a:solidFill>
                <a:latin typeface="Menlo"/>
              </a:rPr>
              <a:t> import </a:t>
            </a:r>
            <a:r>
              <a:rPr sz="1200" dirty="0" err="1">
                <a:solidFill>
                  <a:srgbClr val="1A1A1A"/>
                </a:solidFill>
                <a:latin typeface="Menlo"/>
              </a:rPr>
              <a:t>BaseModel</a:t>
            </a:r>
            <a:r>
              <a:rPr sz="1200" dirty="0">
                <a:solidFill>
                  <a:srgbClr val="1A1A1A"/>
                </a:solidFill>
                <a:latin typeface="Menlo"/>
              </a:rPr>
              <a:t>, Field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from typing import Literal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class </a:t>
            </a:r>
            <a:r>
              <a:rPr sz="1200" dirty="0" err="1">
                <a:solidFill>
                  <a:srgbClr val="1A1A1A"/>
                </a:solidFill>
                <a:latin typeface="Menlo"/>
              </a:rPr>
              <a:t>ClaimCheck</a:t>
            </a:r>
            <a:r>
              <a:rPr sz="1200" dirty="0">
                <a:solidFill>
                  <a:srgbClr val="1A1A1A"/>
                </a:solidFill>
                <a:latin typeface="Menlo"/>
              </a:rPr>
              <a:t>(</a:t>
            </a:r>
            <a:r>
              <a:rPr sz="1200" dirty="0" err="1">
                <a:solidFill>
                  <a:srgbClr val="1A1A1A"/>
                </a:solidFill>
                <a:latin typeface="Menlo"/>
              </a:rPr>
              <a:t>BaseModel</a:t>
            </a:r>
            <a:r>
              <a:rPr sz="1200" dirty="0">
                <a:solidFill>
                  <a:srgbClr val="1A1A1A"/>
                </a:solidFill>
                <a:latin typeface="Menlo"/>
              </a:rPr>
              <a:t>):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    verdict: Literal["true", "false", "uncertain"]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    confidence: Literal["low", "medium", "high"]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    reason: str = Field(description="&lt;= 15 words")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checker = </a:t>
            </a:r>
            <a:r>
              <a:rPr sz="1200" dirty="0" err="1">
                <a:solidFill>
                  <a:srgbClr val="1A1A1A"/>
                </a:solidFill>
                <a:latin typeface="Menlo"/>
              </a:rPr>
              <a:t>llm.with_structured_output</a:t>
            </a:r>
            <a:r>
              <a:rPr sz="1200" dirty="0">
                <a:solidFill>
                  <a:srgbClr val="1A1A1A"/>
                </a:solidFill>
                <a:latin typeface="Menlo"/>
              </a:rPr>
              <a:t>(</a:t>
            </a:r>
            <a:r>
              <a:rPr sz="1200" dirty="0" err="1">
                <a:solidFill>
                  <a:srgbClr val="1A1A1A"/>
                </a:solidFill>
                <a:latin typeface="Menlo"/>
              </a:rPr>
              <a:t>ClaimCheck</a:t>
            </a:r>
            <a:r>
              <a:rPr sz="1200" dirty="0">
                <a:solidFill>
                  <a:srgbClr val="1A1A1A"/>
                </a:solidFill>
                <a:latin typeface="Menlo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result = </a:t>
            </a:r>
            <a:r>
              <a:rPr sz="1200" dirty="0" err="1">
                <a:solidFill>
                  <a:srgbClr val="1A1A1A"/>
                </a:solidFill>
                <a:latin typeface="Menlo"/>
              </a:rPr>
              <a:t>checker.invoke</a:t>
            </a:r>
            <a:r>
              <a:rPr sz="1200" dirty="0">
                <a:solidFill>
                  <a:srgbClr val="1A1A1A"/>
                </a:solidFill>
                <a:latin typeface="Menlo"/>
              </a:rPr>
              <a:t>("The transformer paper is from 2017. True?")</a:t>
            </a:r>
          </a:p>
          <a:p>
            <a:pPr algn="l">
              <a:lnSpc>
                <a:spcPct val="100000"/>
              </a:lnSpc>
            </a:pPr>
            <a:r>
              <a:rPr sz="1200" dirty="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 dirty="0" err="1">
                <a:solidFill>
                  <a:srgbClr val="1A1A1A"/>
                </a:solidFill>
                <a:latin typeface="Menlo"/>
              </a:rPr>
              <a:t>result.verdict</a:t>
            </a:r>
            <a:r>
              <a:rPr sz="1200" dirty="0">
                <a:solidFill>
                  <a:srgbClr val="1A1A1A"/>
                </a:solidFill>
                <a:latin typeface="Menlo"/>
              </a:rPr>
              <a:t>      # -&gt; "true"  (a typed object, not a 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7456" y="1517904"/>
            <a:ext cx="4544568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Point a schema at the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answer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instead of a tool, and the model fills it in. You get back a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validated Python object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no regex, no "please respond in JSON".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77456" y="2775712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SAME MACHINERY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It's the exact function-calling mechanism from the tool-calling agent. Reach for it whenever an agent's output feeds the next pipeline step and must have predictable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77456" y="2775712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77456" y="4431792"/>
            <a:ext cx="4544568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6A6A6A"/>
                </a:solidFill>
                <a:latin typeface="Helvetica Neue"/>
              </a:rPr>
              <a:t>Run live in Notebook 01.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From demo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REAL TOOLS — TAVILY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Our notebooks mock </a:t>
            </a:r>
            <a:r>
              <a:rPr sz="1400" b="0" i="0">
                <a:solidFill>
                  <a:srgbClr val="1A1A1A"/>
                </a:solidFill>
                <a:latin typeface="Menlo"/>
              </a:rPr>
              <a:t>web_search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so they run offline. In production, drop in a hosted search built for agents — same tool interface, real results: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942844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search = TavilySearchResults(max_results=3)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agent  = create_react_agent(llm, [search], prompt)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68268"/>
            <a:ext cx="5257800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Menlo"/>
              </a:rPr>
              <a:t>langchain_community.tools.tavily_search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517904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OBSERVABILITY — LANGSMITH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Set two env vars and every agent run is traced step-by-step — each Thought, Action, tool latency, token count — with no code change: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517904"/>
            <a:ext cx="54864" cy="129692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64224" y="2942844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LANGCHAIN_TRACING_V2 = "true"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LANGCHAIN_API_KEY    = "ls-..."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668268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You debug an agent by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watching the trace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not guessing.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Hands-on: three notebooks, back to 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NOTEBOOK 00 · LANGCHAIN IN 15 MIN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Model wrapper, messages, prompt templates, the LCEL pipe, first </a:t>
            </a:r>
            <a:r>
              <a:rPr sz="1400" b="0" i="0">
                <a:solidFill>
                  <a:srgbClr val="1A1A1A"/>
                </a:solidFill>
                <a:latin typeface="Menlo"/>
              </a:rPr>
              <a:t>@tool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2711704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NOTEBOOK 01 · TOOL USE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smallest agent, three ways: hand-rolled -&gt; native tool-use -&gt; LangChain tool-calling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11704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1517904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NOTEBOOK 02 · REACT, COT, TOT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CoT -&gt; hand-built ReAct loop -&gt; </a:t>
            </a:r>
            <a:r>
              <a:rPr sz="1400" b="0" i="0">
                <a:solidFill>
                  <a:srgbClr val="1A1A1A"/>
                </a:solidFill>
                <a:latin typeface="Menlo"/>
              </a:rPr>
              <a:t>create_react_agent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-&gt; ToT -&gt; the function-calling-vs-ReAct contrast.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517904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2711704"/>
            <a:ext cx="525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Same model. Same loop you just saw on slides. Now you watch it run, step by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14064"/>
            <a:ext cx="6949440" cy="397510"/>
          </a:xfrm>
          <a:prstGeom prst="roundRect">
            <a:avLst>
              <a:gd name="adj" fmla="val 3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0" bIns="0" rtlCol="0" anchor="ctr"/>
          <a:lstStyle/>
          <a:p>
            <a:pPr algn="l"/>
            <a:r>
              <a:rPr sz="1300" b="1" dirty="0">
                <a:solidFill>
                  <a:srgbClr val="2F6D2A"/>
                </a:solidFill>
                <a:latin typeface="Helvetica Neue"/>
              </a:rPr>
              <a:t>▶ Switch to </a:t>
            </a:r>
            <a:r>
              <a:rPr sz="1300" b="1" dirty="0" err="1">
                <a:solidFill>
                  <a:srgbClr val="2F6D2A"/>
                </a:solidFill>
                <a:latin typeface="Helvetica Neue"/>
              </a:rPr>
              <a:t>Colab</a:t>
            </a:r>
            <a:r>
              <a:rPr sz="1300" b="1" dirty="0">
                <a:solidFill>
                  <a:srgbClr val="2F6D2A"/>
                </a:solidFill>
                <a:latin typeface="Helvetica Neue"/>
              </a:rPr>
              <a:t> — Notebooks </a:t>
            </a:r>
            <a:r>
              <a:rPr sz="1300" b="1" u="sng" dirty="0">
                <a:solidFill>
                  <a:srgbClr val="2F6D2A"/>
                </a:solidFill>
                <a:latin typeface="Helvetica Neue"/>
                <a:hlinkClick r:id="rId3"/>
              </a:rPr>
              <a:t>00</a:t>
            </a:r>
            <a:r>
              <a:rPr sz="1300" b="1" dirty="0">
                <a:solidFill>
                  <a:srgbClr val="2F6D2A"/>
                </a:solidFill>
                <a:latin typeface="Helvetica Neue"/>
              </a:rPr>
              <a:t>, </a:t>
            </a:r>
            <a:r>
              <a:rPr sz="1300" b="1" u="sng" dirty="0">
                <a:solidFill>
                  <a:srgbClr val="2F6D2A"/>
                </a:solidFill>
                <a:latin typeface="Helvetica Neue"/>
                <a:hlinkClick r:id="rId4"/>
              </a:rPr>
              <a:t>01</a:t>
            </a:r>
            <a:r>
              <a:rPr sz="1300" b="1" dirty="0">
                <a:solidFill>
                  <a:srgbClr val="2F6D2A"/>
                </a:solidFill>
                <a:latin typeface="Helvetica Neue"/>
              </a:rPr>
              <a:t>, </a:t>
            </a:r>
            <a:r>
              <a:rPr sz="1300" b="1" u="sng" dirty="0">
                <a:solidFill>
                  <a:srgbClr val="2F6D2A"/>
                </a:solidFill>
                <a:latin typeface="Helvetica Neue"/>
                <a:hlinkClick r:id="rId5"/>
              </a:rPr>
              <a:t>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4 ·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RAG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 dirty="0">
                <a:solidFill>
                  <a:srgbClr val="555555"/>
                </a:solidFill>
                <a:latin typeface="Helvetica Neue"/>
              </a:rPr>
              <a:t>Retrieval-Augmented Generation gives the agent memory it can cite. Two parts — both visible — compared three ways.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RAG in one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6A6A6A"/>
                </a:solidFill>
                <a:latin typeface="Helvetica Neue"/>
              </a:rPr>
              <a:t>INDEX  (once)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📄 PDFs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58491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2811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📝 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24374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98694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✂️ chunks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0257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4577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🔢 embeddings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6140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30460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4A7D3F"/>
                </a:solidFill>
                <a:latin typeface="Helvetica Neue"/>
              </a:rPr>
              <a:t>🗄️ vector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5237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6A6A6A"/>
                </a:solidFill>
                <a:latin typeface="Helvetica Neue"/>
              </a:rPr>
              <a:t>QUERY  (every question)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❓ question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80844" y="3081528"/>
            <a:ext cx="274319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55164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🔢 embed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69080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43400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4A7D3F"/>
                </a:solidFill>
                <a:latin typeface="Helvetica Neue"/>
              </a:rPr>
              <a:t>🔎 top-k chunks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57316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31636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🧩 prompt + chunks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45552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19871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🤖 LLM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33788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08107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C8553D"/>
                </a:solidFill>
                <a:latin typeface="Helvetica Neue"/>
              </a:rPr>
              <a:t>✅ answer + citations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877056"/>
            <a:ext cx="11055096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Helvetica Neue"/>
              </a:rPr>
              <a:t>Two halves.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Retrieval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finds the relevant chunks (same embedding idea from Part 1). </a:t>
            </a:r>
            <a:r>
              <a:rPr sz="1600" b="1" i="0" dirty="0">
                <a:solidFill>
                  <a:srgbClr val="1A1A1A"/>
                </a:solidFill>
                <a:latin typeface="Helvetica Neue"/>
              </a:rPr>
              <a:t>Augmentation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stuffs them into the prompt. The model's job becomes "answer from this context, and cite it."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Build it with LangChain 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Each pipeline stage is one LangChain class: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83232"/>
          <a:ext cx="5257800" cy="23957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Stage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Class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Load PDFs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PyPDFLoader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Split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RecursiveCharacterTextSplitter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Embed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HuggingFaceEmbeddings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Store (dense)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FAISS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·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Chroma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Store (sparse)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BM25Retriever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Fuse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EnsembleRetriever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64224" y="1517904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FAISS vs Chroma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both local, both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.as_retriever()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983232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FAISS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Fastest pure-vector index, lives in RAM. Great default.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4224" y="1983232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64224" y="3177032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CHROMA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A small persistent local DB — write once, reopen later, no re-embedding.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177032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4370832"/>
            <a:ext cx="525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Same retriever interface — the rest of the pipeline doesn't care which you pick.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Three retrieval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Dense (FAISS / Chroma)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83232"/>
            <a:ext cx="5257800" cy="1075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Embed query + chunks, cosine similarity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Great for paraphrase &amp; synonyms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"What does X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mean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32328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Sparse (BM25)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97656"/>
            <a:ext cx="5257800" cy="1075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Classical keyword scoring, no embeddings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Great for exact terms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"What about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RLAIF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517904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Hybrid (EnsembleRetriever)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983232"/>
            <a:ext cx="5257800" cy="1075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Fuses both with Reciprocal Rank Fusion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Catches paraphrase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and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exact-term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Usually wins on section-level hit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3132328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NOTEBOOK 04 APPENDIX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same recipe on real Elasticsearch with native RRF — production substrate, same idea.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3132328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The dirty secret of RAG: chunking dominates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Fixed-window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split every N chars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83232"/>
            <a:ext cx="5257800" cy="419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Fast; breaks sentences mid-thought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75992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Recursive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paragraph -&gt; sentence -&gt; 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41320"/>
            <a:ext cx="5257800" cy="747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Respects boundaries; LangChain default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Better for dense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and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sparse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62248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Semantic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split on embedding-distance jumps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27576"/>
            <a:ext cx="5257800" cy="6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Slowest, sometimes best for narrative; we mention, don't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517904"/>
            <a:ext cx="5257800" cy="158292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NOTEBOOK 03 · CHUNK + OVERLAP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137 pages -&gt;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676 chunks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at 800 chars / 100 overlap.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Chunk size and overlap usually move retrieval quality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more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than the choice of embedding model. Sweep them on your own corpus.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517904"/>
            <a:ext cx="54864" cy="1582928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3228848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For the workshop we use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recursive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cheapest win.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Comparison: hit@5 on five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Test set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5 questions, each labelled with its ground-truth paper + section keywords. Two metrics: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5257800" cy="747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paper-hit@5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right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paper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in the top 5?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section-hit@5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right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part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of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68320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first is easy; the second is honest.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517904"/>
            <a:ext cx="5257800" cy="37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Notebook 03 run (5-paper corpus):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64224" y="1983232"/>
          <a:ext cx="5257800" cy="1316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paper-hit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section-hit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Dense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BM25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Hybrid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64224" y="3427984"/>
            <a:ext cx="5257800" cy="902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On a small, clean corpus all three nail it. On a big messy one, hybrid pulls ahead — it catches both query types.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434840"/>
          <a:ext cx="11055096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0A0A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0A0A"/>
                          </a:solidFill>
                          <a:latin typeface="Helvetica Neue"/>
                        </a:rPr>
                        <a:t>What it measures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0A0A"/>
                          </a:solidFill>
                          <a:latin typeface="Helvetica Neue"/>
                        </a:rPr>
                        <a:t>In our eval (k = 5)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Precision@5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Of the top 5 chunks, how many are relevant?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e.g. 3 of 5 on-topic → 0.60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Recall@5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Of all answer-bearing chunks, how many are in the top 5?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did we miss a relevant chunk?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Hit Rate@5</a:t>
                      </a:r>
                    </a:p>
                  </a:txBody>
                  <a:tcPr marL="73152" marT="18288" marB="18288" anchor="ctr">
                    <a:solidFill>
                      <a:srgbClr val="FAD7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Did ≥ 1 relevant item appear in the top 5?  (yes / no)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6D2A"/>
                          </a:solidFill>
                          <a:latin typeface="Helvetica Neue"/>
                        </a:rPr>
                        <a:t>→ our paper-hit@5 / section-hit@5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elvetica Neue"/>
                        </a:rPr>
                        <a:t>NDCG@5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Hit rate, but rewards items ranked higher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Helvetica Neue"/>
                        </a:rPr>
                        <a:t>a hit at rank 1 beats one at rank 5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RAG vs raw LLM — same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257800" cy="13517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C8553D"/>
                </a:solidFill>
                <a:latin typeface="Helvetica Neue"/>
              </a:rPr>
              <a:t>RAW LLM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"The ReAct loop interleaves reasoning and action..."</a:t>
            </a:r>
          </a:p>
          <a:p>
            <a:pPr algn="l">
              <a:spcBef>
                <a:spcPts val="400"/>
              </a:spcBef>
            </a:pPr>
            <a:r>
              <a:rPr sz="1400" b="0" i="1">
                <a:solidFill>
                  <a:srgbClr val="1A1A1A"/>
                </a:solidFill>
                <a:latin typeface="Helvetica Neue"/>
              </a:rPr>
              <a:t>No citation. Possibly wrong on specifics. Sounds confident either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351788"/>
          </a:xfrm>
          <a:prstGeom prst="rect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64224" y="1517904"/>
            <a:ext cx="5257800" cy="13517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RAG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"...interleaving reasoning, action and observation improves groundedness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[react_yao_2022.pdf#540]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."</a:t>
            </a:r>
          </a:p>
          <a:p>
            <a:pPr algn="l">
              <a:spcBef>
                <a:spcPts val="400"/>
              </a:spcBef>
            </a:pPr>
            <a:r>
              <a:rPr sz="1400" b="0" i="1">
                <a:solidFill>
                  <a:srgbClr val="1A1A1A"/>
                </a:solidFill>
                <a:latin typeface="Helvetica Neue"/>
              </a:rPr>
              <a:t>Every claim points to a chunk you can re-read.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4864" cy="1351788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997708"/>
            <a:ext cx="11055096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Citations are the killer feature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not prompt-engineering magic, just retrieval plus telling the model to cite its 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27195"/>
            <a:ext cx="6949440" cy="612140"/>
          </a:xfrm>
          <a:prstGeom prst="roundRect">
            <a:avLst>
              <a:gd name="adj" fmla="val 3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0" bIns="0" rtlCol="0" anchor="ctr"/>
          <a:lstStyle/>
          <a:p>
            <a:pPr algn="l"/>
            <a:r>
              <a:rPr sz="1300" b="1" dirty="0">
                <a:solidFill>
                  <a:srgbClr val="2F6D2A"/>
                </a:solidFill>
                <a:latin typeface="Helvetica Neue"/>
              </a:rPr>
              <a:t>▶ Switch to </a:t>
            </a:r>
            <a:r>
              <a:rPr sz="1300" b="1" dirty="0" err="1">
                <a:solidFill>
                  <a:srgbClr val="2F6D2A"/>
                </a:solidFill>
                <a:latin typeface="Helvetica Neue"/>
              </a:rPr>
              <a:t>Colab</a:t>
            </a:r>
            <a:r>
              <a:rPr sz="1300" b="1" dirty="0">
                <a:solidFill>
                  <a:srgbClr val="2F6D2A"/>
                </a:solidFill>
                <a:latin typeface="Helvetica Neue"/>
              </a:rPr>
              <a:t> — Notebook </a:t>
            </a:r>
            <a:r>
              <a:rPr sz="1300" b="1" u="sng" dirty="0">
                <a:solidFill>
                  <a:srgbClr val="2F6D2A"/>
                </a:solidFill>
                <a:latin typeface="Helvetica Neue"/>
                <a:hlinkClick r:id="rId3"/>
              </a:rPr>
              <a:t>03</a:t>
            </a:r>
            <a:r>
              <a:rPr sz="1300" b="1" dirty="0">
                <a:solidFill>
                  <a:srgbClr val="2F6D2A"/>
                </a:solidFill>
                <a:latin typeface="Helvetica Neue"/>
              </a:rPr>
              <a:t> (run the comparison, then ask a grounded question)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5 ·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What's next —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 dirty="0">
                <a:solidFill>
                  <a:srgbClr val="555555"/>
                </a:solidFill>
                <a:latin typeface="Helvetica Neue"/>
              </a:rPr>
              <a:t>A single </a:t>
            </a:r>
            <a:r>
              <a:rPr sz="1800" b="0" i="0" dirty="0" err="1">
                <a:solidFill>
                  <a:srgbClr val="555555"/>
                </a:solidFill>
                <a:latin typeface="Helvetica Neue"/>
              </a:rPr>
              <a:t>ReAct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 + RAG agent covers a lot</a:t>
            </a:r>
            <a:r>
              <a:rPr lang="en-US" dirty="0">
                <a:solidFill>
                  <a:srgbClr val="555555"/>
                </a:solidFill>
                <a:latin typeface="Helvetica Neue"/>
              </a:rPr>
              <a:t> but not all.</a:t>
            </a:r>
            <a:r>
              <a:rPr sz="1800" b="0" i="0" dirty="0">
                <a:solidFill>
                  <a:srgbClr val="555555"/>
                </a:solidFill>
                <a:latin typeface="Helvetica Neue"/>
              </a:rPr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Limits of the single-agent pattern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17904"/>
          <a:ext cx="11055096" cy="16459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5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Limit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Symptom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Fix in W3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Context overflow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Long reasoning traces exhaust the window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Hand subtasks to specialists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No specialisation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One prompt does everything, none of it well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Planner / Retriever / Writer split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Sequential bottleneck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Parallel-decomposable work runs serially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Graph orchestration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Hard to evaluate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Can't isolate which step failed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Per-node metrics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291840"/>
            <a:ext cx="11055096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These are the </a:t>
            </a:r>
            <a:r>
              <a:rPr sz="1200" b="1" i="0">
                <a:solidFill>
                  <a:srgbClr val="6A6A6A"/>
                </a:solidFill>
                <a:latin typeface="Helvetica Neue"/>
              </a:rPr>
              <a:t>L3</a:t>
            </a:r>
            <a:r>
              <a:rPr sz="1200" b="0" i="0">
                <a:solidFill>
                  <a:srgbClr val="6A6A6A"/>
                </a:solidFill>
                <a:latin typeface="Helvetica Neue"/>
              </a:rPr>
              <a:t> rung — multi-agent systems — that we deliberately left off the ladder today.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Today's retriever becomes a W3 tool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user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1517904"/>
            <a:ext cx="8951976" cy="18288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52928" y="1627631"/>
            <a:ext cx="858621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F4F8B"/>
                </a:solidFill>
                <a:latin typeface="Helvetica Neue"/>
              </a:rPr>
              <a:t>LangGraph 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21408" y="2468880"/>
            <a:ext cx="548640" cy="0"/>
          </a:xfrm>
          <a:prstGeom prst="line">
            <a:avLst/>
          </a:prstGeom>
          <a:ln w="19050">
            <a:solidFill>
              <a:srgbClr val="1F4F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35808" y="2176272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4A7D3F"/>
                </a:solidFill>
                <a:latin typeface="Helvetica Neue"/>
              </a:rPr>
              <a:t>Planner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8755" y="2176272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1F4F8B"/>
                </a:solidFill>
                <a:latin typeface="Helvetica Neue"/>
              </a:rPr>
              <a:t>Retriever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1703" y="2176272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C8553D"/>
                </a:solidFill>
                <a:latin typeface="Helvetica Neue"/>
              </a:rPr>
              <a:t>Writer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30368" y="2459736"/>
            <a:ext cx="818387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43315" y="2459736"/>
            <a:ext cx="818388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4436" y="288950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6A6A6A"/>
                </a:solidFill>
                <a:latin typeface="Helvetica Neue"/>
              </a:rPr>
              <a:t>hybrid_retriever()  —  straight from Notebook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02736"/>
            <a:ext cx="11055096" cy="638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retrieval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function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doesn't change — the orchestrator around it does. Same with your ReAct loop: it becomes a node in a graph.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to read before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5096" cy="140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LangGraph quickstart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langchain-ai/langgraph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repo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Anthropic's "Building effective agents"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workflows-vs-agents section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GPT-Researcher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 production multi-agent deep-research pattern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Your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02 ReAct trace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bring it back; we'll convert it to a graph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Take it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Five notebooks, one mental model: the loop is the agent.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you take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5096" cy="1732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00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LangChain in 15 minutes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01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tool use, three ways (hand-rolled -&gt; native -&gt; tool-calling agent)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02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CoT, ReAct from scratch &amp; via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create_react_agent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ToT, FC-vs-ReAct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03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full RAG with FAISS + Chroma + hybrid retrieval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04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optional Elasticsearch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23335"/>
            <a:ext cx="110550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dirty="0">
                <a:solidFill>
                  <a:srgbClr val="1A1A1A"/>
                </a:solidFill>
                <a:latin typeface="Helvetica Neue"/>
              </a:rPr>
              <a:t>All open in </a:t>
            </a:r>
            <a:r>
              <a:rPr sz="1600" b="0" i="0" dirty="0" err="1">
                <a:solidFill>
                  <a:srgbClr val="1A1A1A"/>
                </a:solidFill>
                <a:latin typeface="Helvetica Neue"/>
              </a:rPr>
              <a:t>Colab</a:t>
            </a:r>
            <a:r>
              <a:rPr sz="1600" b="0" i="0" dirty="0">
                <a:solidFill>
                  <a:srgbClr val="1A1A1A"/>
                </a:solidFill>
                <a:latin typeface="Helvetica Neue"/>
              </a:rPr>
              <a:t> from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</a:rPr>
              <a:t> </a:t>
            </a:r>
            <a:r>
              <a:rPr lang="en-US" sz="1600" b="0" i="0" dirty="0">
                <a:solidFill>
                  <a:srgbClr val="1A1A1A"/>
                </a:solidFill>
                <a:latin typeface="Helvetica Neue"/>
                <a:hlinkClick r:id="rId3"/>
              </a:rPr>
              <a:t>Agentic AI for Scientists Workshop’s Repo</a:t>
            </a:r>
            <a:endParaRPr lang="en-US" sz="1600" b="1" dirty="0">
              <a:solidFill>
                <a:srgbClr val="1A1A1A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One sentence to remember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11055096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64592" bIns="91440" rtlCol="0" anchor="t"/>
          <a:lstStyle/>
          <a:p>
            <a:pPr algn="l"/>
            <a:r>
              <a:rPr sz="1050" b="1" dirty="0">
                <a:solidFill>
                  <a:srgbClr val="4A7D3F"/>
                </a:solidFill>
                <a:latin typeface="Helvetica Neue"/>
              </a:rPr>
              <a:t>THE WEEK 2 TAKEAWAY</a:t>
            </a:r>
          </a:p>
          <a:p>
            <a:pPr algn="l">
              <a:spcBef>
                <a:spcPts val="400"/>
              </a:spcBef>
            </a:pPr>
            <a:r>
              <a:rPr sz="1400" b="0" i="0" dirty="0">
                <a:solidFill>
                  <a:srgbClr val="1A1A1A"/>
                </a:solidFill>
                <a:latin typeface="Helvetica Neue"/>
              </a:rPr>
              <a:t>A language model predicts the next token. An </a:t>
            </a:r>
            <a:r>
              <a:rPr sz="1400" b="1" i="0" dirty="0">
                <a:solidFill>
                  <a:srgbClr val="1A1A1A"/>
                </a:solidFill>
                <a:latin typeface="Helvetica Neue"/>
              </a:rPr>
              <a:t>agent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 is the loop you wrap around it</a:t>
            </a:r>
            <a:r>
              <a:rPr lang="en-US" sz="1400" dirty="0">
                <a:solidFill>
                  <a:srgbClr val="1A1A1A"/>
                </a:solidFill>
                <a:latin typeface="Helvetica Neue"/>
              </a:rPr>
              <a:t>: </a:t>
            </a:r>
            <a:r>
              <a:rPr sz="1400" b="0" i="0" dirty="0">
                <a:solidFill>
                  <a:srgbClr val="1A1A1A"/>
                </a:solidFill>
                <a:latin typeface="Helvetica Neue"/>
              </a:rPr>
              <a:t>tools give it hands, reasoning gives it a scratchpad, RAG gives it memory it can cite.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1051560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t"/>
          <a:lstStyle/>
          <a:p>
            <a:pPr algn="ctr"/>
            <a:r>
              <a:rPr sz="1250" b="1">
                <a:solidFill>
                  <a:srgbClr val="1F4F8B"/>
                </a:solidFill>
                <a:latin typeface="Helvetica Neue"/>
              </a:rPr>
              <a:t>AN AGENT  =  THE LOOP YOU WRAP AROUND 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3474720"/>
            <a:ext cx="3474720" cy="749808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LLM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  <a:latin typeface="Helvetica Neue"/>
              </a:rPr>
              <a:t>predicts the next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70916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4A7D3F"/>
                </a:solidFill>
                <a:latin typeface="Helvetica Neue"/>
              </a:rPr>
              <a:t>Tools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6A6A6A"/>
                </a:solidFill>
                <a:latin typeface="Helvetica Neue"/>
              </a:rPr>
              <a:t>give it hands — act on the world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697480" y="4224528"/>
            <a:ext cx="3396996" cy="48463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90288" y="470916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F4F8B"/>
                </a:solidFill>
                <a:latin typeface="Helvetica Neue"/>
              </a:rPr>
              <a:t>Reasoning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6A6A6A"/>
                </a:solidFill>
                <a:latin typeface="Helvetica Neue"/>
              </a:rPr>
              <a:t>a scratchpad — CoT · ToT · ReAct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4476" y="4224528"/>
            <a:ext cx="4572" cy="48463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470916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C8553D"/>
                </a:solidFill>
                <a:latin typeface="Helvetica Neue"/>
              </a:rPr>
              <a:t>RAG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6A6A6A"/>
                </a:solidFill>
                <a:latin typeface="Helvetica Neue"/>
              </a:rPr>
              <a:t>memory it can cite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4476" y="4224528"/>
            <a:ext cx="3415284" cy="48463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48840"/>
            <a:ext cx="8686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600" b="1">
                <a:solidFill>
                  <a:srgbClr val="0A0A0A"/>
                </a:solidFill>
                <a:latin typeface="Helvetica Neue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>
                <a:solidFill>
                  <a:srgbClr val="444444"/>
                </a:solidFill>
                <a:latin typeface="Helvetica Neue"/>
              </a:rPr>
              <a:t>Kerem Delikoyun  ·  TUMCREATE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916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Helvetica Neue"/>
              </a:rPr>
              <a:t>kerem.delikoyun@tum-create.edu.sg  ·  github.com/krmdel/agentic-ai-workshop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5066</Words>
  <Application>Microsoft Macintosh PowerPoint</Application>
  <PresentationFormat>Widescreen</PresentationFormat>
  <Paragraphs>612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Kerem Delikoyun</cp:lastModifiedBy>
  <cp:revision>8</cp:revision>
  <dcterms:created xsi:type="dcterms:W3CDTF">2013-01-27T09:14:16Z</dcterms:created>
  <dcterms:modified xsi:type="dcterms:W3CDTF">2026-06-02T18:19:33Z</dcterms:modified>
  <cp:category/>
</cp:coreProperties>
</file>